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Inndam" charset="1" panose="000005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slide3.xml" Type="http://schemas.openxmlformats.org/officeDocument/2006/relationships/slide"/><Relationship Id="rId4" Target="slide10.xml" Type="http://schemas.openxmlformats.org/officeDocument/2006/relationships/slide"/><Relationship Id="rId5" Target="slide15.xml" Type="http://schemas.openxmlformats.org/officeDocument/2006/relationships/slide"/><Relationship Id="rId6" Target="../media/image9.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slide3.xml" Type="http://schemas.openxmlformats.org/officeDocument/2006/relationships/slide"/><Relationship Id="rId4" Target="slide10.xml" Type="http://schemas.openxmlformats.org/officeDocument/2006/relationships/slide"/><Relationship Id="rId5" Target="slide15.xml" Type="http://schemas.openxmlformats.org/officeDocument/2006/relationships/slide"/><Relationship Id="rId6" Target="../media/image9.pn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slide10.xml" Type="http://schemas.openxmlformats.org/officeDocument/2006/relationships/slide"/><Relationship Id="rId4" Target="slide15.xml" Type="http://schemas.openxmlformats.org/officeDocument/2006/relationships/slid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slide10.xml" Type="http://schemas.openxmlformats.org/officeDocument/2006/relationships/slide"/><Relationship Id="rId4" Target="slide15.xml" Type="http://schemas.openxmlformats.org/officeDocument/2006/relationships/slide"/><Relationship Id="rId5" Target="../media/image9.pn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slide15.xml" Type="http://schemas.openxmlformats.org/officeDocument/2006/relationships/slide"/><Relationship Id="rId4" Target="../media/image9.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2.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2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slide15.xml" Type="http://schemas.openxmlformats.org/officeDocument/2006/relationships/slide"/><Relationship Id="rId4" Target="../media/image9.pn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7.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5400000">
            <a:off x="4781488" y="-3103159"/>
            <a:ext cx="8313625" cy="18719266"/>
            <a:chOff x="0" y="0"/>
            <a:chExt cx="2189597" cy="4930177"/>
          </a:xfrm>
        </p:grpSpPr>
        <p:sp>
          <p:nvSpPr>
            <p:cNvPr name="Freeform 4" id="4"/>
            <p:cNvSpPr/>
            <p:nvPr/>
          </p:nvSpPr>
          <p:spPr>
            <a:xfrm flipH="false" flipV="false" rot="0">
              <a:off x="0" y="0"/>
              <a:ext cx="2189597" cy="4930177"/>
            </a:xfrm>
            <a:custGeom>
              <a:avLst/>
              <a:gdLst/>
              <a:ahLst/>
              <a:cxnLst/>
              <a:rect r="r" b="b" t="t" l="l"/>
              <a:pathLst>
                <a:path h="4930177" w="2189597">
                  <a:moveTo>
                    <a:pt x="0" y="0"/>
                  </a:moveTo>
                  <a:lnTo>
                    <a:pt x="2189597" y="0"/>
                  </a:lnTo>
                  <a:lnTo>
                    <a:pt x="2189597" y="4930177"/>
                  </a:lnTo>
                  <a:lnTo>
                    <a:pt x="0" y="4930177"/>
                  </a:lnTo>
                  <a:close/>
                </a:path>
              </a:pathLst>
            </a:custGeom>
            <a:gradFill rotWithShape="true">
              <a:gsLst>
                <a:gs pos="0">
                  <a:srgbClr val="000000">
                    <a:alpha val="100000"/>
                  </a:srgbClr>
                </a:gs>
                <a:gs pos="100000">
                  <a:srgbClr val="000000">
                    <a:alpha val="0"/>
                  </a:srgbClr>
                </a:gs>
              </a:gsLst>
              <a:lin ang="0"/>
            </a:gradFill>
          </p:spPr>
        </p:sp>
        <p:sp>
          <p:nvSpPr>
            <p:cNvPr name="TextBox 5" id="5"/>
            <p:cNvSpPr txBox="true"/>
            <p:nvPr/>
          </p:nvSpPr>
          <p:spPr>
            <a:xfrm>
              <a:off x="0" y="-38100"/>
              <a:ext cx="2189597" cy="496827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6291194" y="8244171"/>
            <a:ext cx="5705613" cy="3488710"/>
            <a:chOff x="0" y="0"/>
            <a:chExt cx="2198600" cy="1344339"/>
          </a:xfrm>
        </p:grpSpPr>
        <p:sp>
          <p:nvSpPr>
            <p:cNvPr name="Freeform 7" id="7"/>
            <p:cNvSpPr/>
            <p:nvPr/>
          </p:nvSpPr>
          <p:spPr>
            <a:xfrm flipH="false" flipV="false" rot="0">
              <a:off x="0" y="0"/>
              <a:ext cx="2198600" cy="1344339"/>
            </a:xfrm>
            <a:custGeom>
              <a:avLst/>
              <a:gdLst/>
              <a:ahLst/>
              <a:cxnLst/>
              <a:rect r="r" b="b" t="t" l="l"/>
              <a:pathLst>
                <a:path h="1344339" w="2198600">
                  <a:moveTo>
                    <a:pt x="2038580" y="0"/>
                  </a:moveTo>
                  <a:lnTo>
                    <a:pt x="160020" y="0"/>
                  </a:lnTo>
                  <a:lnTo>
                    <a:pt x="0" y="160020"/>
                  </a:lnTo>
                  <a:lnTo>
                    <a:pt x="0" y="1184319"/>
                  </a:lnTo>
                  <a:lnTo>
                    <a:pt x="160020" y="1344339"/>
                  </a:lnTo>
                  <a:lnTo>
                    <a:pt x="2038580" y="1344339"/>
                  </a:lnTo>
                  <a:lnTo>
                    <a:pt x="2198600" y="1184319"/>
                  </a:lnTo>
                  <a:lnTo>
                    <a:pt x="2198600" y="160020"/>
                  </a:lnTo>
                  <a:lnTo>
                    <a:pt x="2038580" y="0"/>
                  </a:lnTo>
                  <a:close/>
                </a:path>
              </a:pathLst>
            </a:custGeom>
            <a:ln w="9525" cap="sq">
              <a:solidFill>
                <a:srgbClr val="1CC9F1"/>
              </a:solidFill>
              <a:prstDash val="solid"/>
              <a:miter/>
            </a:ln>
          </p:spPr>
        </p:sp>
        <p:sp>
          <p:nvSpPr>
            <p:cNvPr name="TextBox 8" id="8"/>
            <p:cNvSpPr txBox="true"/>
            <p:nvPr/>
          </p:nvSpPr>
          <p:spPr>
            <a:xfrm>
              <a:off x="63500" y="92075"/>
              <a:ext cx="2071600" cy="1188764"/>
            </a:xfrm>
            <a:prstGeom prst="rect">
              <a:avLst/>
            </a:prstGeom>
          </p:spPr>
          <p:txBody>
            <a:bodyPr anchor="ctr" rtlCol="false" tIns="50800" lIns="50800" bIns="50800" rIns="50800"/>
            <a:lstStyle/>
            <a:p>
              <a:pPr algn="ctr">
                <a:lnSpc>
                  <a:spcPts val="1782"/>
                </a:lnSpc>
              </a:pPr>
            </a:p>
          </p:txBody>
        </p:sp>
      </p:grpSp>
      <p:sp>
        <p:nvSpPr>
          <p:cNvPr name="TextBox 9" id="9"/>
          <p:cNvSpPr txBox="true"/>
          <p:nvPr/>
        </p:nvSpPr>
        <p:spPr>
          <a:xfrm rot="0">
            <a:off x="2748999" y="3244727"/>
            <a:ext cx="12780477" cy="2440942"/>
          </a:xfrm>
          <a:prstGeom prst="rect">
            <a:avLst/>
          </a:prstGeom>
        </p:spPr>
        <p:txBody>
          <a:bodyPr anchor="t" rtlCol="false" tIns="0" lIns="0" bIns="0" rIns="0">
            <a:spAutoFit/>
          </a:bodyPr>
          <a:lstStyle/>
          <a:p>
            <a:pPr algn="ctr">
              <a:lnSpc>
                <a:spcPts val="8680"/>
              </a:lnSpc>
            </a:pPr>
            <a:r>
              <a:rPr lang="en-US" sz="14000" spc="-308">
                <a:solidFill>
                  <a:srgbClr val="1CC9F1"/>
                </a:solidFill>
                <a:latin typeface="Inndam"/>
                <a:ea typeface="Inndam"/>
                <a:cs typeface="Inndam"/>
                <a:sym typeface="Inndam"/>
              </a:rPr>
              <a:t>NUMERICAL METHODS</a:t>
            </a:r>
          </a:p>
        </p:txBody>
      </p:sp>
      <p:grpSp>
        <p:nvGrpSpPr>
          <p:cNvPr name="Group 10" id="10"/>
          <p:cNvGrpSpPr/>
          <p:nvPr/>
        </p:nvGrpSpPr>
        <p:grpSpPr>
          <a:xfrm rot="0">
            <a:off x="8739373" y="8244171"/>
            <a:ext cx="793524" cy="111242"/>
            <a:chOff x="0" y="0"/>
            <a:chExt cx="208994" cy="29298"/>
          </a:xfrm>
        </p:grpSpPr>
        <p:sp>
          <p:nvSpPr>
            <p:cNvPr name="Freeform 11" id="11"/>
            <p:cNvSpPr/>
            <p:nvPr/>
          </p:nvSpPr>
          <p:spPr>
            <a:xfrm flipH="false" flipV="false" rot="0">
              <a:off x="0" y="0"/>
              <a:ext cx="208994" cy="29298"/>
            </a:xfrm>
            <a:custGeom>
              <a:avLst/>
              <a:gdLst/>
              <a:ahLst/>
              <a:cxnLst/>
              <a:rect r="r" b="b" t="t" l="l"/>
              <a:pathLst>
                <a:path h="29298" w="208994">
                  <a:moveTo>
                    <a:pt x="0" y="0"/>
                  </a:moveTo>
                  <a:lnTo>
                    <a:pt x="208994" y="0"/>
                  </a:lnTo>
                  <a:lnTo>
                    <a:pt x="208994" y="29298"/>
                  </a:lnTo>
                  <a:lnTo>
                    <a:pt x="0" y="29298"/>
                  </a:lnTo>
                  <a:close/>
                </a:path>
              </a:pathLst>
            </a:custGeom>
            <a:solidFill>
              <a:srgbClr val="1CC9F1"/>
            </a:solidFill>
          </p:spPr>
        </p:sp>
        <p:sp>
          <p:nvSpPr>
            <p:cNvPr name="TextBox 12" id="12"/>
            <p:cNvSpPr txBox="true"/>
            <p:nvPr/>
          </p:nvSpPr>
          <p:spPr>
            <a:xfrm>
              <a:off x="0" y="28575"/>
              <a:ext cx="208994" cy="723"/>
            </a:xfrm>
            <a:prstGeom prst="rect">
              <a:avLst/>
            </a:prstGeom>
          </p:spPr>
          <p:txBody>
            <a:bodyPr anchor="ctr" rtlCol="false" tIns="50800" lIns="50800" bIns="50800" rIns="50800"/>
            <a:lstStyle/>
            <a:p>
              <a:pPr algn="ctr">
                <a:lnSpc>
                  <a:spcPts val="1782"/>
                </a:lnSpc>
              </a:pPr>
            </a:p>
          </p:txBody>
        </p:sp>
      </p:grpSp>
      <p:sp>
        <p:nvSpPr>
          <p:cNvPr name="Freeform 13" id="13"/>
          <p:cNvSpPr/>
          <p:nvPr/>
        </p:nvSpPr>
        <p:spPr>
          <a:xfrm flipH="false" flipV="false" rot="0">
            <a:off x="2753762" y="5445372"/>
            <a:ext cx="309516" cy="240297"/>
          </a:xfrm>
          <a:custGeom>
            <a:avLst/>
            <a:gdLst/>
            <a:ahLst/>
            <a:cxnLst/>
            <a:rect r="r" b="b" t="t" l="l"/>
            <a:pathLst>
              <a:path h="240297" w="309516">
                <a:moveTo>
                  <a:pt x="0" y="0"/>
                </a:moveTo>
                <a:lnTo>
                  <a:pt x="309515" y="0"/>
                </a:lnTo>
                <a:lnTo>
                  <a:pt x="309515" y="240297"/>
                </a:lnTo>
                <a:lnTo>
                  <a:pt x="0" y="2402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false" rot="0">
            <a:off x="15219960" y="5445372"/>
            <a:ext cx="309516" cy="240297"/>
          </a:xfrm>
          <a:custGeom>
            <a:avLst/>
            <a:gdLst/>
            <a:ahLst/>
            <a:cxnLst/>
            <a:rect r="r" b="b" t="t" l="l"/>
            <a:pathLst>
              <a:path h="240297" w="309516">
                <a:moveTo>
                  <a:pt x="309516" y="0"/>
                </a:moveTo>
                <a:lnTo>
                  <a:pt x="0" y="0"/>
                </a:lnTo>
                <a:lnTo>
                  <a:pt x="0" y="240297"/>
                </a:lnTo>
                <a:lnTo>
                  <a:pt x="309516" y="240297"/>
                </a:lnTo>
                <a:lnTo>
                  <a:pt x="30951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10800000">
            <a:off x="15219960" y="2463677"/>
            <a:ext cx="309516" cy="240297"/>
          </a:xfrm>
          <a:custGeom>
            <a:avLst/>
            <a:gdLst/>
            <a:ahLst/>
            <a:cxnLst/>
            <a:rect r="r" b="b" t="t" l="l"/>
            <a:pathLst>
              <a:path h="240297" w="309516">
                <a:moveTo>
                  <a:pt x="0" y="0"/>
                </a:moveTo>
                <a:lnTo>
                  <a:pt x="309516" y="0"/>
                </a:lnTo>
                <a:lnTo>
                  <a:pt x="309516" y="240296"/>
                </a:lnTo>
                <a:lnTo>
                  <a:pt x="0" y="2402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true" flipV="false" rot="-10800000">
            <a:off x="2753762" y="2463677"/>
            <a:ext cx="309516" cy="240297"/>
          </a:xfrm>
          <a:custGeom>
            <a:avLst/>
            <a:gdLst/>
            <a:ahLst/>
            <a:cxnLst/>
            <a:rect r="r" b="b" t="t" l="l"/>
            <a:pathLst>
              <a:path h="240297" w="309516">
                <a:moveTo>
                  <a:pt x="309515" y="0"/>
                </a:moveTo>
                <a:lnTo>
                  <a:pt x="0" y="0"/>
                </a:lnTo>
                <a:lnTo>
                  <a:pt x="0" y="240296"/>
                </a:lnTo>
                <a:lnTo>
                  <a:pt x="309515" y="240296"/>
                </a:lnTo>
                <a:lnTo>
                  <a:pt x="30951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7" id="17"/>
          <p:cNvSpPr/>
          <p:nvPr/>
        </p:nvSpPr>
        <p:spPr>
          <a:xfrm>
            <a:off x="2753762" y="2583825"/>
            <a:ext cx="0" cy="2981695"/>
          </a:xfrm>
          <a:prstGeom prst="line">
            <a:avLst/>
          </a:prstGeom>
          <a:ln cap="flat" w="9525">
            <a:solidFill>
              <a:srgbClr val="1CC9F1"/>
            </a:solidFill>
            <a:prstDash val="solid"/>
            <a:headEnd type="none" len="sm" w="sm"/>
            <a:tailEnd type="none" len="sm" w="sm"/>
          </a:ln>
        </p:spPr>
      </p:sp>
      <p:sp>
        <p:nvSpPr>
          <p:cNvPr name="AutoShape 18" id="18"/>
          <p:cNvSpPr/>
          <p:nvPr/>
        </p:nvSpPr>
        <p:spPr>
          <a:xfrm>
            <a:off x="15529476" y="2463677"/>
            <a:ext cx="0" cy="3101844"/>
          </a:xfrm>
          <a:prstGeom prst="line">
            <a:avLst/>
          </a:prstGeom>
          <a:ln cap="flat" w="9525">
            <a:solidFill>
              <a:srgbClr val="1CC9F1"/>
            </a:solidFill>
            <a:prstDash val="solid"/>
            <a:headEnd type="none" len="sm" w="sm"/>
            <a:tailEnd type="none" len="sm" w="sm"/>
          </a:ln>
        </p:spPr>
      </p:sp>
      <p:sp>
        <p:nvSpPr>
          <p:cNvPr name="Freeform 19" id="19"/>
          <p:cNvSpPr/>
          <p:nvPr/>
        </p:nvSpPr>
        <p:spPr>
          <a:xfrm flipH="false" flipV="false" rot="0">
            <a:off x="16059757" y="0"/>
            <a:ext cx="2228243" cy="2517789"/>
          </a:xfrm>
          <a:custGeom>
            <a:avLst/>
            <a:gdLst/>
            <a:ahLst/>
            <a:cxnLst/>
            <a:rect r="r" b="b" t="t" l="l"/>
            <a:pathLst>
              <a:path h="2517789" w="2228243">
                <a:moveTo>
                  <a:pt x="0" y="0"/>
                </a:moveTo>
                <a:lnTo>
                  <a:pt x="2228243" y="0"/>
                </a:lnTo>
                <a:lnTo>
                  <a:pt x="2228243" y="2517789"/>
                </a:lnTo>
                <a:lnTo>
                  <a:pt x="0" y="25177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0" y="5732386"/>
            <a:ext cx="5036211" cy="5246053"/>
          </a:xfrm>
          <a:custGeom>
            <a:avLst/>
            <a:gdLst/>
            <a:ahLst/>
            <a:cxnLst/>
            <a:rect r="r" b="b" t="t" l="l"/>
            <a:pathLst>
              <a:path h="5246053" w="5036211">
                <a:moveTo>
                  <a:pt x="0" y="0"/>
                </a:moveTo>
                <a:lnTo>
                  <a:pt x="5036211" y="0"/>
                </a:lnTo>
                <a:lnTo>
                  <a:pt x="5036211" y="5246054"/>
                </a:lnTo>
                <a:lnTo>
                  <a:pt x="0" y="5246054"/>
                </a:lnTo>
                <a:lnTo>
                  <a:pt x="0" y="0"/>
                </a:lnTo>
                <a:close/>
              </a:path>
            </a:pathLst>
          </a:custGeom>
          <a:blipFill>
            <a:blip r:embed="rId7">
              <a:alphaModFix amt="73000"/>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6803469" y="8605647"/>
            <a:ext cx="4681062" cy="1333881"/>
          </a:xfrm>
          <a:prstGeom prst="rect">
            <a:avLst/>
          </a:prstGeom>
        </p:spPr>
        <p:txBody>
          <a:bodyPr anchor="t" rtlCol="false" tIns="0" lIns="0" bIns="0" rIns="0">
            <a:spAutoFit/>
          </a:bodyPr>
          <a:lstStyle/>
          <a:p>
            <a:pPr algn="ctr">
              <a:lnSpc>
                <a:spcPts val="1782"/>
              </a:lnSpc>
            </a:pPr>
            <a:r>
              <a:rPr lang="en-US" sz="1800" spc="279">
                <a:solidFill>
                  <a:srgbClr val="FFFFFF"/>
                </a:solidFill>
                <a:latin typeface="Inndam"/>
                <a:ea typeface="Inndam"/>
                <a:cs typeface="Inndam"/>
                <a:sym typeface="Inndam"/>
              </a:rPr>
              <a:t>GROUP *&amp;^*&amp;^:</a:t>
            </a:r>
          </a:p>
          <a:p>
            <a:pPr algn="ctr">
              <a:lnSpc>
                <a:spcPts val="1782"/>
              </a:lnSpc>
            </a:pPr>
            <a:r>
              <a:rPr lang="en-US" sz="1800" spc="279">
                <a:solidFill>
                  <a:srgbClr val="FFFFFF"/>
                </a:solidFill>
                <a:latin typeface="Inndam"/>
                <a:ea typeface="Inndam"/>
                <a:cs typeface="Inndam"/>
                <a:sym typeface="Inndam"/>
              </a:rPr>
              <a:t>-DUONG GIA BAO</a:t>
            </a:r>
          </a:p>
          <a:p>
            <a:pPr algn="ctr">
              <a:lnSpc>
                <a:spcPts val="1782"/>
              </a:lnSpc>
            </a:pPr>
            <a:r>
              <a:rPr lang="en-US" sz="1800" spc="279">
                <a:solidFill>
                  <a:srgbClr val="FFFFFF"/>
                </a:solidFill>
                <a:latin typeface="Inndam"/>
                <a:ea typeface="Inndam"/>
                <a:cs typeface="Inndam"/>
                <a:sym typeface="Inndam"/>
              </a:rPr>
              <a:t>-PHAM HUY HIEU</a:t>
            </a:r>
          </a:p>
          <a:p>
            <a:pPr algn="ctr">
              <a:lnSpc>
                <a:spcPts val="1782"/>
              </a:lnSpc>
            </a:pPr>
            <a:r>
              <a:rPr lang="en-US" sz="1800" spc="279">
                <a:solidFill>
                  <a:srgbClr val="FFFFFF"/>
                </a:solidFill>
                <a:latin typeface="Inndam"/>
                <a:ea typeface="Inndam"/>
                <a:cs typeface="Inndam"/>
                <a:sym typeface="Inndam"/>
              </a:rPr>
              <a:t>-NGUYEN TIEN THANH</a:t>
            </a:r>
          </a:p>
          <a:p>
            <a:pPr algn="ctr">
              <a:lnSpc>
                <a:spcPts val="1782"/>
              </a:lnSpc>
            </a:pPr>
            <a:r>
              <a:rPr lang="en-US" sz="1800" spc="279">
                <a:solidFill>
                  <a:srgbClr val="FFFFFF"/>
                </a:solidFill>
                <a:latin typeface="Inndam"/>
                <a:ea typeface="Inndam"/>
                <a:cs typeface="Inndam"/>
                <a:sym typeface="Inndam"/>
              </a:rPr>
              <a:t>-DAO DUC NGUYEN</a:t>
            </a:r>
          </a:p>
          <a:p>
            <a:pPr algn="ctr">
              <a:lnSpc>
                <a:spcPts val="1782"/>
              </a:lnSpc>
            </a:pPr>
            <a:r>
              <a:rPr lang="en-US" sz="1800" spc="279">
                <a:solidFill>
                  <a:srgbClr val="FFFFFF"/>
                </a:solidFill>
                <a:latin typeface="Inndam"/>
                <a:ea typeface="Inndam"/>
                <a:cs typeface="Inndam"/>
                <a:sym typeface="Inndam"/>
              </a:rPr>
              <a:t>-PHAM QUANG MINH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1715903" y="2381637"/>
            <a:ext cx="6206878" cy="1352644"/>
            <a:chOff x="0" y="0"/>
            <a:chExt cx="1515189" cy="330200"/>
          </a:xfrm>
        </p:grpSpPr>
        <p:sp>
          <p:nvSpPr>
            <p:cNvPr name="Freeform 7" id="7"/>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94EBFF"/>
                  </a:solidFill>
                  <a:latin typeface="Inndam"/>
                  <a:ea typeface="Inndam"/>
                  <a:cs typeface="Inndam"/>
                  <a:sym typeface="Inndam"/>
                </a:rPr>
                <a:t>PHÂN TÍCH ĐỀ BÀI</a:t>
              </a:r>
            </a:p>
          </p:txBody>
        </p:sp>
      </p:grpSp>
      <p:grpSp>
        <p:nvGrpSpPr>
          <p:cNvPr name="Group 9" id="9"/>
          <p:cNvGrpSpPr/>
          <p:nvPr/>
        </p:nvGrpSpPr>
        <p:grpSpPr>
          <a:xfrm rot="0">
            <a:off x="471885" y="2381637"/>
            <a:ext cx="1856152" cy="1352644"/>
            <a:chOff x="0" y="0"/>
            <a:chExt cx="453114" cy="330200"/>
          </a:xfrm>
        </p:grpSpPr>
        <p:sp>
          <p:nvSpPr>
            <p:cNvPr name="Freeform 10" id="10">
              <a:hlinkClick r:id="rId3"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9958573" y="7005887"/>
            <a:ext cx="6206878" cy="1352644"/>
            <a:chOff x="0" y="0"/>
            <a:chExt cx="1515189" cy="330200"/>
          </a:xfrm>
        </p:grpSpPr>
        <p:sp>
          <p:nvSpPr>
            <p:cNvPr name="Freeform 13" id="13"/>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14" id="14"/>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15" id="15"/>
          <p:cNvGrpSpPr/>
          <p:nvPr/>
        </p:nvGrpSpPr>
        <p:grpSpPr>
          <a:xfrm rot="0">
            <a:off x="8473305" y="6985532"/>
            <a:ext cx="1856152" cy="1352644"/>
            <a:chOff x="0" y="0"/>
            <a:chExt cx="453114" cy="330200"/>
          </a:xfrm>
        </p:grpSpPr>
        <p:sp>
          <p:nvSpPr>
            <p:cNvPr name="Freeform 16" id="16"/>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7" id="17"/>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8" id="18"/>
          <p:cNvGrpSpPr/>
          <p:nvPr/>
        </p:nvGrpSpPr>
        <p:grpSpPr>
          <a:xfrm rot="0">
            <a:off x="10451714" y="3210359"/>
            <a:ext cx="6206878" cy="1352644"/>
            <a:chOff x="0" y="0"/>
            <a:chExt cx="1515189" cy="330200"/>
          </a:xfrm>
        </p:grpSpPr>
        <p:sp>
          <p:nvSpPr>
            <p:cNvPr name="Freeform 19" id="19"/>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20" id="20"/>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5170FF"/>
                  </a:solidFill>
                  <a:latin typeface="Inndam"/>
                  <a:ea typeface="Inndam"/>
                  <a:cs typeface="Inndam"/>
                  <a:sym typeface="Inndam"/>
                </a:rPr>
                <a:t>TỔNG QUAN GIẢI PHÁP</a:t>
              </a:r>
            </a:p>
          </p:txBody>
        </p:sp>
      </p:grpSp>
      <p:grpSp>
        <p:nvGrpSpPr>
          <p:cNvPr name="Group 21" id="21"/>
          <p:cNvGrpSpPr/>
          <p:nvPr/>
        </p:nvGrpSpPr>
        <p:grpSpPr>
          <a:xfrm rot="0">
            <a:off x="9144000" y="3210359"/>
            <a:ext cx="1856152" cy="1352644"/>
            <a:chOff x="0" y="0"/>
            <a:chExt cx="453114" cy="330200"/>
          </a:xfrm>
        </p:grpSpPr>
        <p:sp>
          <p:nvSpPr>
            <p:cNvPr name="Freeform 22" id="22">
              <a:hlinkClick r:id="rId4"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23" id="23"/>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24" id="24"/>
          <p:cNvGrpSpPr/>
          <p:nvPr/>
        </p:nvGrpSpPr>
        <p:grpSpPr>
          <a:xfrm rot="0">
            <a:off x="1950529" y="5318251"/>
            <a:ext cx="6206878" cy="1352644"/>
            <a:chOff x="0" y="0"/>
            <a:chExt cx="1515189" cy="330200"/>
          </a:xfrm>
        </p:grpSpPr>
        <p:sp>
          <p:nvSpPr>
            <p:cNvPr name="Freeform 25" id="25"/>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26" id="26"/>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KIẾN THỨC &amp; THUẬT TOÁN</a:t>
              </a:r>
            </a:p>
          </p:txBody>
        </p:sp>
      </p:grpSp>
      <p:grpSp>
        <p:nvGrpSpPr>
          <p:cNvPr name="Group 27" id="27"/>
          <p:cNvGrpSpPr/>
          <p:nvPr/>
        </p:nvGrpSpPr>
        <p:grpSpPr>
          <a:xfrm rot="0">
            <a:off x="651192" y="5318251"/>
            <a:ext cx="1856152" cy="1352644"/>
            <a:chOff x="0" y="0"/>
            <a:chExt cx="453114" cy="330200"/>
          </a:xfrm>
        </p:grpSpPr>
        <p:sp>
          <p:nvSpPr>
            <p:cNvPr name="Freeform 28" id="28">
              <a:hlinkClick r:id="rId5"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29" id="29"/>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30" id="30"/>
          <p:cNvGrpSpPr/>
          <p:nvPr/>
        </p:nvGrpSpPr>
        <p:grpSpPr>
          <a:xfrm rot="0">
            <a:off x="1028700" y="2162032"/>
            <a:ext cx="662354" cy="1717827"/>
            <a:chOff x="0" y="0"/>
            <a:chExt cx="1818386" cy="4716018"/>
          </a:xfrm>
        </p:grpSpPr>
        <p:sp>
          <p:nvSpPr>
            <p:cNvPr name="Freeform 31" id="31">
              <a:hlinkClick r:id="rId3" action="ppaction://hlinksldjump"/>
            </p:cNvPr>
            <p:cNvSpPr/>
            <p:nvPr/>
          </p:nvSpPr>
          <p:spPr>
            <a:xfrm flipH="false" flipV="false" rot="0">
              <a:off x="0" y="-90"/>
              <a:ext cx="1818386" cy="4716108"/>
            </a:xfrm>
            <a:custGeom>
              <a:avLst/>
              <a:gdLst/>
              <a:ahLst/>
              <a:cxnLst/>
              <a:rect r="r" b="b" t="t" l="l"/>
              <a:pathLst>
                <a:path h="4716108" w="1818386">
                  <a:moveTo>
                    <a:pt x="495935" y="3992843"/>
                  </a:moveTo>
                  <a:lnTo>
                    <a:pt x="495935" y="1141312"/>
                  </a:lnTo>
                  <a:cubicBezTo>
                    <a:pt x="495935" y="838290"/>
                    <a:pt x="392557" y="803746"/>
                    <a:pt x="0" y="900266"/>
                  </a:cubicBezTo>
                  <a:lnTo>
                    <a:pt x="0" y="665951"/>
                  </a:lnTo>
                  <a:cubicBezTo>
                    <a:pt x="420116" y="590132"/>
                    <a:pt x="1053846" y="170016"/>
                    <a:pt x="1239774" y="32221"/>
                  </a:cubicBezTo>
                  <a:cubicBezTo>
                    <a:pt x="1315593" y="-22897"/>
                    <a:pt x="1391285" y="-9054"/>
                    <a:pt x="1363726" y="87339"/>
                  </a:cubicBezTo>
                  <a:cubicBezTo>
                    <a:pt x="1336167" y="183732"/>
                    <a:pt x="1322451" y="486881"/>
                    <a:pt x="1322451" y="755486"/>
                  </a:cubicBezTo>
                  <a:lnTo>
                    <a:pt x="1322451" y="900139"/>
                  </a:lnTo>
                  <a:cubicBezTo>
                    <a:pt x="1322451" y="968973"/>
                    <a:pt x="1322451" y="1044792"/>
                    <a:pt x="1322451" y="1141185"/>
                  </a:cubicBezTo>
                  <a:lnTo>
                    <a:pt x="1322451" y="3992843"/>
                  </a:lnTo>
                  <a:cubicBezTo>
                    <a:pt x="1322451" y="4516337"/>
                    <a:pt x="1515364" y="4660990"/>
                    <a:pt x="1818386" y="4716108"/>
                  </a:cubicBezTo>
                  <a:lnTo>
                    <a:pt x="0" y="4716108"/>
                  </a:lnTo>
                  <a:cubicBezTo>
                    <a:pt x="303022" y="4660990"/>
                    <a:pt x="495935" y="4516337"/>
                    <a:pt x="495935" y="3992843"/>
                  </a:cubicBezTo>
                  <a:close/>
                </a:path>
              </a:pathLst>
            </a:custGeom>
            <a:blipFill>
              <a:blip r:embed="rId6"/>
              <a:stretch>
                <a:fillRect l="-133453" t="0" r="-133453"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32" id="32"/>
          <p:cNvGrpSpPr/>
          <p:nvPr/>
        </p:nvGrpSpPr>
        <p:grpSpPr>
          <a:xfrm rot="0">
            <a:off x="9514454" y="3027767"/>
            <a:ext cx="1115245" cy="1717827"/>
            <a:chOff x="0" y="0"/>
            <a:chExt cx="3548634" cy="5466010"/>
          </a:xfrm>
        </p:grpSpPr>
        <p:sp>
          <p:nvSpPr>
            <p:cNvPr name="Freeform 33" id="33">
              <a:hlinkClick r:id="rId4" action="ppaction://hlinksldjump"/>
            </p:cNvPr>
            <p:cNvSpPr/>
            <p:nvPr/>
          </p:nvSpPr>
          <p:spPr>
            <a:xfrm flipH="false" flipV="false" rot="0">
              <a:off x="-43" y="311"/>
              <a:ext cx="3548678" cy="5465700"/>
            </a:xfrm>
            <a:custGeom>
              <a:avLst/>
              <a:gdLst/>
              <a:ahLst/>
              <a:cxnLst/>
              <a:rect r="r" b="b" t="t" l="l"/>
              <a:pathLst>
                <a:path h="5465700" w="3548678">
                  <a:moveTo>
                    <a:pt x="3548677" y="4016517"/>
                  </a:moveTo>
                  <a:lnTo>
                    <a:pt x="3355764" y="5465699"/>
                  </a:lnTo>
                  <a:lnTo>
                    <a:pt x="77132" y="5465699"/>
                  </a:lnTo>
                  <a:cubicBezTo>
                    <a:pt x="22014" y="5465699"/>
                    <a:pt x="1313" y="5418245"/>
                    <a:pt x="42715" y="5370644"/>
                  </a:cubicBezTo>
                  <a:cubicBezTo>
                    <a:pt x="1688889" y="3200886"/>
                    <a:pt x="2432855" y="2408910"/>
                    <a:pt x="2432855" y="1458655"/>
                  </a:cubicBezTo>
                  <a:cubicBezTo>
                    <a:pt x="2432855" y="682593"/>
                    <a:pt x="1840527" y="175781"/>
                    <a:pt x="1199939" y="318290"/>
                  </a:cubicBezTo>
                  <a:cubicBezTo>
                    <a:pt x="697146" y="429114"/>
                    <a:pt x="504233" y="896357"/>
                    <a:pt x="235628" y="1624964"/>
                  </a:cubicBezTo>
                  <a:cubicBezTo>
                    <a:pt x="208069" y="1704103"/>
                    <a:pt x="152951" y="1688334"/>
                    <a:pt x="146093" y="1617079"/>
                  </a:cubicBezTo>
                  <a:cubicBezTo>
                    <a:pt x="132250" y="1276430"/>
                    <a:pt x="104691" y="928042"/>
                    <a:pt x="1313" y="587539"/>
                  </a:cubicBezTo>
                  <a:cubicBezTo>
                    <a:pt x="-5545" y="547969"/>
                    <a:pt x="15029" y="508400"/>
                    <a:pt x="49573" y="484599"/>
                  </a:cubicBezTo>
                  <a:cubicBezTo>
                    <a:pt x="641901" y="151981"/>
                    <a:pt x="1206797" y="1441"/>
                    <a:pt x="1571795" y="1441"/>
                  </a:cubicBezTo>
                  <a:cubicBezTo>
                    <a:pt x="2143549" y="-12503"/>
                    <a:pt x="2742735" y="64811"/>
                    <a:pt x="3094017" y="674563"/>
                  </a:cubicBezTo>
                  <a:cubicBezTo>
                    <a:pt x="3417740" y="1228975"/>
                    <a:pt x="3300646" y="2131630"/>
                    <a:pt x="2756451" y="2781098"/>
                  </a:cubicBezTo>
                  <a:cubicBezTo>
                    <a:pt x="2281217" y="3351280"/>
                    <a:pt x="1730164" y="3968916"/>
                    <a:pt x="1227371" y="4515444"/>
                  </a:cubicBezTo>
                  <a:lnTo>
                    <a:pt x="2770294" y="4515444"/>
                  </a:lnTo>
                  <a:cubicBezTo>
                    <a:pt x="3087159" y="4515444"/>
                    <a:pt x="3355764" y="4436159"/>
                    <a:pt x="3548677" y="4016517"/>
                  </a:cubicBezTo>
                  <a:close/>
                </a:path>
              </a:pathLst>
            </a:custGeom>
            <a:blipFill>
              <a:blip r:embed="rId6"/>
              <a:stretch>
                <a:fillRect l="-58944" t="0" r="-58944"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34" id="34"/>
          <p:cNvGrpSpPr/>
          <p:nvPr/>
        </p:nvGrpSpPr>
        <p:grpSpPr>
          <a:xfrm rot="0">
            <a:off x="949795" y="5132249"/>
            <a:ext cx="1258946" cy="1724649"/>
            <a:chOff x="0" y="0"/>
            <a:chExt cx="4018280" cy="5504700"/>
          </a:xfrm>
        </p:grpSpPr>
        <p:sp>
          <p:nvSpPr>
            <p:cNvPr name="Freeform 35" id="35">
              <a:hlinkClick r:id="rId5" action="ppaction://hlinksldjump"/>
            </p:cNvPr>
            <p:cNvSpPr/>
            <p:nvPr/>
          </p:nvSpPr>
          <p:spPr>
            <a:xfrm flipH="false" flipV="false" rot="0">
              <a:off x="0" y="0"/>
              <a:ext cx="4018280" cy="5504700"/>
            </a:xfrm>
            <a:custGeom>
              <a:avLst/>
              <a:gdLst/>
              <a:ahLst/>
              <a:cxnLst/>
              <a:rect r="r" b="b" t="t" l="l"/>
              <a:pathLst>
                <a:path h="5504700" w="4018280">
                  <a:moveTo>
                    <a:pt x="563880" y="331810"/>
                  </a:moveTo>
                  <a:cubicBezTo>
                    <a:pt x="877570" y="111001"/>
                    <a:pt x="1342390" y="0"/>
                    <a:pt x="1958340" y="0"/>
                  </a:cubicBezTo>
                  <a:cubicBezTo>
                    <a:pt x="3149600" y="0"/>
                    <a:pt x="3743960" y="404617"/>
                    <a:pt x="3743960" y="1213851"/>
                  </a:cubicBezTo>
                  <a:cubicBezTo>
                    <a:pt x="3743960" y="1544467"/>
                    <a:pt x="3604260" y="1817792"/>
                    <a:pt x="3324860" y="2035020"/>
                  </a:cubicBezTo>
                  <a:cubicBezTo>
                    <a:pt x="3045460" y="2251055"/>
                    <a:pt x="2644140" y="2402637"/>
                    <a:pt x="2122170" y="2489767"/>
                  </a:cubicBezTo>
                  <a:lnTo>
                    <a:pt x="2122170" y="2505283"/>
                  </a:lnTo>
                  <a:cubicBezTo>
                    <a:pt x="2769870" y="2550638"/>
                    <a:pt x="3247390" y="2698640"/>
                    <a:pt x="3556000" y="2948094"/>
                  </a:cubicBezTo>
                  <a:cubicBezTo>
                    <a:pt x="3864610" y="3197548"/>
                    <a:pt x="4018280" y="3521003"/>
                    <a:pt x="4018280" y="3917264"/>
                  </a:cubicBezTo>
                  <a:cubicBezTo>
                    <a:pt x="4018280" y="4405431"/>
                    <a:pt x="3816350" y="4793338"/>
                    <a:pt x="3411220" y="5077405"/>
                  </a:cubicBezTo>
                  <a:cubicBezTo>
                    <a:pt x="3006090" y="5362666"/>
                    <a:pt x="2443480" y="5504700"/>
                    <a:pt x="1723390" y="5504700"/>
                  </a:cubicBezTo>
                  <a:cubicBezTo>
                    <a:pt x="1441450" y="5504700"/>
                    <a:pt x="1178560" y="5473667"/>
                    <a:pt x="935990" y="5412796"/>
                  </a:cubicBezTo>
                  <a:cubicBezTo>
                    <a:pt x="693420" y="5351924"/>
                    <a:pt x="476250" y="5231374"/>
                    <a:pt x="285750" y="5049953"/>
                  </a:cubicBezTo>
                  <a:cubicBezTo>
                    <a:pt x="95250" y="4869726"/>
                    <a:pt x="0" y="4654885"/>
                    <a:pt x="0" y="4405431"/>
                  </a:cubicBezTo>
                  <a:cubicBezTo>
                    <a:pt x="0" y="4155977"/>
                    <a:pt x="60960" y="3962620"/>
                    <a:pt x="184150" y="3825361"/>
                  </a:cubicBezTo>
                  <a:cubicBezTo>
                    <a:pt x="307340" y="3688101"/>
                    <a:pt x="474980" y="3618875"/>
                    <a:pt x="689610" y="3618875"/>
                  </a:cubicBezTo>
                  <a:cubicBezTo>
                    <a:pt x="904240" y="3618875"/>
                    <a:pt x="1073150" y="3673778"/>
                    <a:pt x="1198880" y="3783586"/>
                  </a:cubicBezTo>
                  <a:cubicBezTo>
                    <a:pt x="1324610" y="3893394"/>
                    <a:pt x="1386840" y="4023492"/>
                    <a:pt x="1386840" y="4172687"/>
                  </a:cubicBezTo>
                  <a:cubicBezTo>
                    <a:pt x="1386840" y="4323075"/>
                    <a:pt x="1366520" y="4450786"/>
                    <a:pt x="1324610" y="4558206"/>
                  </a:cubicBezTo>
                  <a:lnTo>
                    <a:pt x="1080770" y="4558206"/>
                  </a:lnTo>
                  <a:cubicBezTo>
                    <a:pt x="1049020" y="4639369"/>
                    <a:pt x="1033780" y="4724112"/>
                    <a:pt x="1033780" y="4810048"/>
                  </a:cubicBezTo>
                  <a:cubicBezTo>
                    <a:pt x="1033780" y="5171697"/>
                    <a:pt x="1253490" y="5351924"/>
                    <a:pt x="1691640" y="5351924"/>
                  </a:cubicBezTo>
                  <a:cubicBezTo>
                    <a:pt x="2000250" y="5351924"/>
                    <a:pt x="2209800" y="5237342"/>
                    <a:pt x="2322830" y="5008179"/>
                  </a:cubicBezTo>
                  <a:cubicBezTo>
                    <a:pt x="2434590" y="4779015"/>
                    <a:pt x="2491740" y="4448399"/>
                    <a:pt x="2491740" y="4015137"/>
                  </a:cubicBezTo>
                  <a:cubicBezTo>
                    <a:pt x="2491740" y="3583068"/>
                    <a:pt x="2438400" y="3267968"/>
                    <a:pt x="2331720" y="3072224"/>
                  </a:cubicBezTo>
                  <a:cubicBezTo>
                    <a:pt x="2225040" y="2876480"/>
                    <a:pt x="2066290" y="2727285"/>
                    <a:pt x="1858010" y="2625833"/>
                  </a:cubicBezTo>
                  <a:cubicBezTo>
                    <a:pt x="1670050" y="2666414"/>
                    <a:pt x="1442720" y="2699833"/>
                    <a:pt x="1176020" y="2724898"/>
                  </a:cubicBezTo>
                  <a:lnTo>
                    <a:pt x="1151890" y="2556606"/>
                  </a:lnTo>
                  <a:cubicBezTo>
                    <a:pt x="1611630" y="2511251"/>
                    <a:pt x="1912620" y="2403830"/>
                    <a:pt x="2056130" y="2235539"/>
                  </a:cubicBezTo>
                  <a:cubicBezTo>
                    <a:pt x="2199640" y="2067246"/>
                    <a:pt x="2272030" y="1768856"/>
                    <a:pt x="2272030" y="1337981"/>
                  </a:cubicBezTo>
                  <a:cubicBezTo>
                    <a:pt x="2272030" y="908300"/>
                    <a:pt x="2228850" y="600361"/>
                    <a:pt x="2142490" y="414166"/>
                  </a:cubicBezTo>
                  <a:cubicBezTo>
                    <a:pt x="2056130" y="227970"/>
                    <a:pt x="1911350" y="136066"/>
                    <a:pt x="1708150" y="136066"/>
                  </a:cubicBezTo>
                  <a:cubicBezTo>
                    <a:pt x="1504950" y="136066"/>
                    <a:pt x="1360170" y="195744"/>
                    <a:pt x="1273810" y="315100"/>
                  </a:cubicBezTo>
                  <a:cubicBezTo>
                    <a:pt x="1186180" y="436843"/>
                    <a:pt x="1143000" y="550231"/>
                    <a:pt x="1143000" y="656458"/>
                  </a:cubicBezTo>
                  <a:cubicBezTo>
                    <a:pt x="1143000" y="762685"/>
                    <a:pt x="1158240" y="858170"/>
                    <a:pt x="1189990" y="939332"/>
                  </a:cubicBezTo>
                  <a:lnTo>
                    <a:pt x="1417320" y="939332"/>
                  </a:lnTo>
                  <a:cubicBezTo>
                    <a:pt x="1459230" y="1046752"/>
                    <a:pt x="1479550" y="1174463"/>
                    <a:pt x="1479550" y="1324852"/>
                  </a:cubicBezTo>
                  <a:cubicBezTo>
                    <a:pt x="1479550" y="1475240"/>
                    <a:pt x="1414780" y="1605339"/>
                    <a:pt x="1283970" y="1713953"/>
                  </a:cubicBezTo>
                  <a:cubicBezTo>
                    <a:pt x="1153160" y="1823760"/>
                    <a:pt x="980440" y="1878664"/>
                    <a:pt x="767080" y="1878664"/>
                  </a:cubicBezTo>
                  <a:cubicBezTo>
                    <a:pt x="552450" y="1878664"/>
                    <a:pt x="387350" y="1811824"/>
                    <a:pt x="269240" y="1675759"/>
                  </a:cubicBezTo>
                  <a:cubicBezTo>
                    <a:pt x="152400" y="1540886"/>
                    <a:pt x="93980" y="1371401"/>
                    <a:pt x="93980" y="1168495"/>
                  </a:cubicBezTo>
                  <a:cubicBezTo>
                    <a:pt x="93980" y="831911"/>
                    <a:pt x="250190" y="553812"/>
                    <a:pt x="563880" y="331810"/>
                  </a:cubicBezTo>
                  <a:close/>
                </a:path>
              </a:pathLst>
            </a:custGeom>
            <a:blipFill>
              <a:blip r:embed="rId6"/>
              <a:stretch>
                <a:fillRect l="-46899" t="0" r="-46899"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36" id="36"/>
          <p:cNvGrpSpPr/>
          <p:nvPr/>
        </p:nvGrpSpPr>
        <p:grpSpPr>
          <a:xfrm rot="0">
            <a:off x="8473305" y="6670895"/>
            <a:ext cx="1485268" cy="1687636"/>
            <a:chOff x="0" y="0"/>
            <a:chExt cx="4488180" cy="5099694"/>
          </a:xfrm>
        </p:grpSpPr>
        <p:sp>
          <p:nvSpPr>
            <p:cNvPr name="Freeform 37" id="37"/>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6"/>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38" id="38"/>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9" id="39"/>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6000"/>
            </a:blip>
            <a:stretch>
              <a:fillRect l="0" t="-3333" r="0" b="-3333"/>
            </a:stretch>
          </a:blipFill>
        </p:spPr>
      </p:sp>
      <p:grpSp>
        <p:nvGrpSpPr>
          <p:cNvPr name="Group 3" id="3"/>
          <p:cNvGrpSpPr/>
          <p:nvPr/>
        </p:nvGrpSpPr>
        <p:grpSpPr>
          <a:xfrm rot="-10800000">
            <a:off x="855934" y="8370912"/>
            <a:ext cx="17033331" cy="1728934"/>
            <a:chOff x="0" y="0"/>
            <a:chExt cx="9592274" cy="973644"/>
          </a:xfrm>
        </p:grpSpPr>
        <p:sp>
          <p:nvSpPr>
            <p:cNvPr name="Freeform 4" id="4"/>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5" id="5"/>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10800000">
            <a:off x="703534" y="8218512"/>
            <a:ext cx="17033331" cy="1728934"/>
            <a:chOff x="0" y="0"/>
            <a:chExt cx="9592274" cy="973644"/>
          </a:xfrm>
        </p:grpSpPr>
        <p:sp>
          <p:nvSpPr>
            <p:cNvPr name="Freeform 7" id="7"/>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8" id="8"/>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9" id="9"/>
          <p:cNvGrpSpPr/>
          <p:nvPr/>
        </p:nvGrpSpPr>
        <p:grpSpPr>
          <a:xfrm rot="-10800000">
            <a:off x="551134" y="8066112"/>
            <a:ext cx="17033331" cy="1728934"/>
            <a:chOff x="0" y="0"/>
            <a:chExt cx="9592274" cy="973644"/>
          </a:xfrm>
        </p:grpSpPr>
        <p:sp>
          <p:nvSpPr>
            <p:cNvPr name="Freeform 10" id="10"/>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1" id="11"/>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2" id="12"/>
          <p:cNvGrpSpPr/>
          <p:nvPr/>
        </p:nvGrpSpPr>
        <p:grpSpPr>
          <a:xfrm rot="-10800000">
            <a:off x="398734" y="7913712"/>
            <a:ext cx="17033331" cy="1728934"/>
            <a:chOff x="0" y="0"/>
            <a:chExt cx="9592274" cy="973644"/>
          </a:xfrm>
        </p:grpSpPr>
        <p:sp>
          <p:nvSpPr>
            <p:cNvPr name="Freeform 13" id="13"/>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4" id="14"/>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5" id="15"/>
          <p:cNvGrpSpPr/>
          <p:nvPr/>
        </p:nvGrpSpPr>
        <p:grpSpPr>
          <a:xfrm rot="-10800000">
            <a:off x="855934" y="5869921"/>
            <a:ext cx="17033331" cy="1728934"/>
            <a:chOff x="0" y="0"/>
            <a:chExt cx="9592274" cy="973644"/>
          </a:xfrm>
        </p:grpSpPr>
        <p:sp>
          <p:nvSpPr>
            <p:cNvPr name="Freeform 16" id="16"/>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7" id="17"/>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8" id="18"/>
          <p:cNvGrpSpPr/>
          <p:nvPr/>
        </p:nvGrpSpPr>
        <p:grpSpPr>
          <a:xfrm rot="-10800000">
            <a:off x="703534" y="5717521"/>
            <a:ext cx="17033331" cy="1728934"/>
            <a:chOff x="0" y="0"/>
            <a:chExt cx="9592274" cy="973644"/>
          </a:xfrm>
        </p:grpSpPr>
        <p:sp>
          <p:nvSpPr>
            <p:cNvPr name="Freeform 19" id="19"/>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20" id="20"/>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21" id="21"/>
          <p:cNvGrpSpPr/>
          <p:nvPr/>
        </p:nvGrpSpPr>
        <p:grpSpPr>
          <a:xfrm rot="-10800000">
            <a:off x="551134" y="5565121"/>
            <a:ext cx="17033331" cy="1728934"/>
            <a:chOff x="0" y="0"/>
            <a:chExt cx="9592274" cy="973644"/>
          </a:xfrm>
        </p:grpSpPr>
        <p:sp>
          <p:nvSpPr>
            <p:cNvPr name="Freeform 22" id="22"/>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23" id="23"/>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24" id="24"/>
          <p:cNvGrpSpPr/>
          <p:nvPr/>
        </p:nvGrpSpPr>
        <p:grpSpPr>
          <a:xfrm rot="-10800000">
            <a:off x="398734" y="5412721"/>
            <a:ext cx="17033331" cy="1728934"/>
            <a:chOff x="0" y="0"/>
            <a:chExt cx="9592274" cy="973644"/>
          </a:xfrm>
        </p:grpSpPr>
        <p:sp>
          <p:nvSpPr>
            <p:cNvPr name="Freeform 25" id="25"/>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26" id="26"/>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27" id="27"/>
          <p:cNvGrpSpPr/>
          <p:nvPr/>
        </p:nvGrpSpPr>
        <p:grpSpPr>
          <a:xfrm rot="-10800000">
            <a:off x="855934" y="3511054"/>
            <a:ext cx="17033331" cy="1728934"/>
            <a:chOff x="0" y="0"/>
            <a:chExt cx="9592274" cy="973644"/>
          </a:xfrm>
        </p:grpSpPr>
        <p:sp>
          <p:nvSpPr>
            <p:cNvPr name="Freeform 28" id="28"/>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29" id="29"/>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30" id="30"/>
          <p:cNvGrpSpPr/>
          <p:nvPr/>
        </p:nvGrpSpPr>
        <p:grpSpPr>
          <a:xfrm rot="-10800000">
            <a:off x="703534" y="3358654"/>
            <a:ext cx="17033331" cy="1728934"/>
            <a:chOff x="0" y="0"/>
            <a:chExt cx="9592274" cy="973644"/>
          </a:xfrm>
        </p:grpSpPr>
        <p:sp>
          <p:nvSpPr>
            <p:cNvPr name="Freeform 31" id="31"/>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32" id="32"/>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33" id="33"/>
          <p:cNvGrpSpPr/>
          <p:nvPr/>
        </p:nvGrpSpPr>
        <p:grpSpPr>
          <a:xfrm rot="-10800000">
            <a:off x="551134" y="3206254"/>
            <a:ext cx="17033331" cy="1728934"/>
            <a:chOff x="0" y="0"/>
            <a:chExt cx="9592274" cy="973644"/>
          </a:xfrm>
        </p:grpSpPr>
        <p:sp>
          <p:nvSpPr>
            <p:cNvPr name="Freeform 34" id="34"/>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35" id="35"/>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36" id="36"/>
          <p:cNvGrpSpPr/>
          <p:nvPr/>
        </p:nvGrpSpPr>
        <p:grpSpPr>
          <a:xfrm rot="-10800000">
            <a:off x="398734" y="3053854"/>
            <a:ext cx="17033331" cy="1728934"/>
            <a:chOff x="0" y="0"/>
            <a:chExt cx="9592274" cy="973644"/>
          </a:xfrm>
        </p:grpSpPr>
        <p:sp>
          <p:nvSpPr>
            <p:cNvPr name="Freeform 37" id="37"/>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38" id="38"/>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39" id="39"/>
          <p:cNvGrpSpPr/>
          <p:nvPr/>
        </p:nvGrpSpPr>
        <p:grpSpPr>
          <a:xfrm rot="-10800000">
            <a:off x="855934" y="1324920"/>
            <a:ext cx="17033331" cy="1728934"/>
            <a:chOff x="0" y="0"/>
            <a:chExt cx="9592274" cy="973644"/>
          </a:xfrm>
        </p:grpSpPr>
        <p:sp>
          <p:nvSpPr>
            <p:cNvPr name="Freeform 40" id="40"/>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41" id="41"/>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42" id="42"/>
          <p:cNvGrpSpPr/>
          <p:nvPr/>
        </p:nvGrpSpPr>
        <p:grpSpPr>
          <a:xfrm rot="-10800000">
            <a:off x="703534" y="1172520"/>
            <a:ext cx="17033331" cy="1728934"/>
            <a:chOff x="0" y="0"/>
            <a:chExt cx="9592274" cy="973644"/>
          </a:xfrm>
        </p:grpSpPr>
        <p:sp>
          <p:nvSpPr>
            <p:cNvPr name="Freeform 43" id="43"/>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44" id="44"/>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45" id="45"/>
          <p:cNvGrpSpPr/>
          <p:nvPr/>
        </p:nvGrpSpPr>
        <p:grpSpPr>
          <a:xfrm rot="-10800000">
            <a:off x="551134" y="1020120"/>
            <a:ext cx="17033331" cy="1728934"/>
            <a:chOff x="0" y="0"/>
            <a:chExt cx="9592274" cy="973644"/>
          </a:xfrm>
        </p:grpSpPr>
        <p:sp>
          <p:nvSpPr>
            <p:cNvPr name="Freeform 46" id="46"/>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47" id="47"/>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48" id="48"/>
          <p:cNvGrpSpPr/>
          <p:nvPr/>
        </p:nvGrpSpPr>
        <p:grpSpPr>
          <a:xfrm rot="-10800000">
            <a:off x="398734" y="867720"/>
            <a:ext cx="17033331" cy="1728934"/>
            <a:chOff x="0" y="0"/>
            <a:chExt cx="9592274" cy="973644"/>
          </a:xfrm>
        </p:grpSpPr>
        <p:sp>
          <p:nvSpPr>
            <p:cNvPr name="Freeform 49" id="49"/>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50" id="50"/>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sp>
        <p:nvSpPr>
          <p:cNvPr name="TextBox 51" id="51"/>
          <p:cNvSpPr txBox="true"/>
          <p:nvPr/>
        </p:nvSpPr>
        <p:spPr>
          <a:xfrm rot="0">
            <a:off x="5093996" y="85725"/>
            <a:ext cx="8100009" cy="650401"/>
          </a:xfrm>
          <a:prstGeom prst="rect">
            <a:avLst/>
          </a:prstGeom>
        </p:spPr>
        <p:txBody>
          <a:bodyPr anchor="t" rtlCol="false" tIns="0" lIns="0" bIns="0" rIns="0">
            <a:spAutoFit/>
          </a:bodyPr>
          <a:lstStyle/>
          <a:p>
            <a:pPr algn="l">
              <a:lnSpc>
                <a:spcPts val="4804"/>
              </a:lnSpc>
            </a:pPr>
            <a:r>
              <a:rPr lang="en-US" sz="4852" spc="485">
                <a:solidFill>
                  <a:srgbClr val="FFFFFF"/>
                </a:solidFill>
                <a:latin typeface="Inndam"/>
                <a:ea typeface="Inndam"/>
                <a:cs typeface="Inndam"/>
                <a:sym typeface="Inndam"/>
              </a:rPr>
              <a:t>PHÂN TÍCH ĐỀ BÀI</a:t>
            </a:r>
          </a:p>
        </p:txBody>
      </p:sp>
      <p:sp>
        <p:nvSpPr>
          <p:cNvPr name="TextBox 52" id="52"/>
          <p:cNvSpPr txBox="true"/>
          <p:nvPr/>
        </p:nvSpPr>
        <p:spPr>
          <a:xfrm rot="0">
            <a:off x="855934" y="8792466"/>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4.CÁC LƯU Ý, ĐIỀU KIỆN BIÊN, RỦI RO</a:t>
            </a:r>
          </a:p>
        </p:txBody>
      </p:sp>
      <p:sp>
        <p:nvSpPr>
          <p:cNvPr name="TextBox 53" id="53"/>
          <p:cNvSpPr txBox="true"/>
          <p:nvPr/>
        </p:nvSpPr>
        <p:spPr>
          <a:xfrm rot="0">
            <a:off x="551134" y="6246708"/>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3.INPUT, OUTPUT</a:t>
            </a:r>
          </a:p>
        </p:txBody>
      </p:sp>
      <p:sp>
        <p:nvSpPr>
          <p:cNvPr name="TextBox 54" id="54"/>
          <p:cNvSpPr txBox="true"/>
          <p:nvPr/>
        </p:nvSpPr>
        <p:spPr>
          <a:xfrm rot="0">
            <a:off x="551134" y="3887841"/>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2.CHỨC NĂNG CỤ THỂ</a:t>
            </a:r>
          </a:p>
        </p:txBody>
      </p:sp>
      <p:sp>
        <p:nvSpPr>
          <p:cNvPr name="TextBox 55" id="55"/>
          <p:cNvSpPr txBox="true"/>
          <p:nvPr/>
        </p:nvSpPr>
        <p:spPr>
          <a:xfrm rot="0">
            <a:off x="551134" y="1701707"/>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1.TÓM TẮT TỔNG THỂ</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6000"/>
            </a:blip>
            <a:stretch>
              <a:fillRect l="0" t="-3333" r="0" b="-3333"/>
            </a:stretch>
          </a:blipFill>
        </p:spPr>
      </p:sp>
      <p:grpSp>
        <p:nvGrpSpPr>
          <p:cNvPr name="Group 3" id="3"/>
          <p:cNvGrpSpPr/>
          <p:nvPr/>
        </p:nvGrpSpPr>
        <p:grpSpPr>
          <a:xfrm rot="-10800000">
            <a:off x="855934" y="1324920"/>
            <a:ext cx="17033331" cy="1728934"/>
            <a:chOff x="0" y="0"/>
            <a:chExt cx="9592274" cy="973644"/>
          </a:xfrm>
        </p:grpSpPr>
        <p:sp>
          <p:nvSpPr>
            <p:cNvPr name="Freeform 4" id="4"/>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5" id="5"/>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10800000">
            <a:off x="703534" y="1172520"/>
            <a:ext cx="17033331" cy="1728934"/>
            <a:chOff x="0" y="0"/>
            <a:chExt cx="9592274" cy="973644"/>
          </a:xfrm>
        </p:grpSpPr>
        <p:sp>
          <p:nvSpPr>
            <p:cNvPr name="Freeform 7" id="7"/>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8" id="8"/>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9" id="9"/>
          <p:cNvGrpSpPr/>
          <p:nvPr/>
        </p:nvGrpSpPr>
        <p:grpSpPr>
          <a:xfrm rot="-10800000">
            <a:off x="551134" y="1020120"/>
            <a:ext cx="17033331" cy="1728934"/>
            <a:chOff x="0" y="0"/>
            <a:chExt cx="9592274" cy="973644"/>
          </a:xfrm>
        </p:grpSpPr>
        <p:sp>
          <p:nvSpPr>
            <p:cNvPr name="Freeform 10" id="10"/>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1" id="11"/>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2" id="12"/>
          <p:cNvGrpSpPr/>
          <p:nvPr/>
        </p:nvGrpSpPr>
        <p:grpSpPr>
          <a:xfrm rot="-10800000">
            <a:off x="398734" y="867720"/>
            <a:ext cx="17033331" cy="1728934"/>
            <a:chOff x="0" y="0"/>
            <a:chExt cx="9592274" cy="973644"/>
          </a:xfrm>
        </p:grpSpPr>
        <p:sp>
          <p:nvSpPr>
            <p:cNvPr name="Freeform 13" id="13"/>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4" id="14"/>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sp>
        <p:nvSpPr>
          <p:cNvPr name="TextBox 15" id="15"/>
          <p:cNvSpPr txBox="true"/>
          <p:nvPr/>
        </p:nvSpPr>
        <p:spPr>
          <a:xfrm rot="0">
            <a:off x="5093996" y="85725"/>
            <a:ext cx="8100009" cy="650401"/>
          </a:xfrm>
          <a:prstGeom prst="rect">
            <a:avLst/>
          </a:prstGeom>
        </p:spPr>
        <p:txBody>
          <a:bodyPr anchor="t" rtlCol="false" tIns="0" lIns="0" bIns="0" rIns="0">
            <a:spAutoFit/>
          </a:bodyPr>
          <a:lstStyle/>
          <a:p>
            <a:pPr algn="l">
              <a:lnSpc>
                <a:spcPts val="4804"/>
              </a:lnSpc>
            </a:pPr>
            <a:r>
              <a:rPr lang="en-US" sz="4852" spc="485">
                <a:solidFill>
                  <a:srgbClr val="FFFFFF"/>
                </a:solidFill>
                <a:latin typeface="Inndam"/>
                <a:ea typeface="Inndam"/>
                <a:cs typeface="Inndam"/>
                <a:sym typeface="Inndam"/>
              </a:rPr>
              <a:t>PHÂN TÍCH ĐỀ BÀI</a:t>
            </a:r>
          </a:p>
        </p:txBody>
      </p:sp>
      <p:sp>
        <p:nvSpPr>
          <p:cNvPr name="TextBox 16" id="16"/>
          <p:cNvSpPr txBox="true"/>
          <p:nvPr/>
        </p:nvSpPr>
        <p:spPr>
          <a:xfrm rot="0">
            <a:off x="551134" y="1701707"/>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1.TÓM TẮT TỔNG THỂ</a:t>
            </a:r>
          </a:p>
        </p:txBody>
      </p:sp>
      <p:grpSp>
        <p:nvGrpSpPr>
          <p:cNvPr name="Group 17" id="17"/>
          <p:cNvGrpSpPr/>
          <p:nvPr/>
        </p:nvGrpSpPr>
        <p:grpSpPr>
          <a:xfrm rot="0">
            <a:off x="2007865" y="3187204"/>
            <a:ext cx="13815070" cy="6258704"/>
            <a:chOff x="0" y="0"/>
            <a:chExt cx="1992042" cy="902464"/>
          </a:xfrm>
        </p:grpSpPr>
        <p:sp>
          <p:nvSpPr>
            <p:cNvPr name="Freeform 18" id="18"/>
            <p:cNvSpPr/>
            <p:nvPr/>
          </p:nvSpPr>
          <p:spPr>
            <a:xfrm flipH="false" flipV="false" rot="0">
              <a:off x="0" y="0"/>
              <a:ext cx="1992042" cy="902464"/>
            </a:xfrm>
            <a:custGeom>
              <a:avLst/>
              <a:gdLst/>
              <a:ahLst/>
              <a:cxnLst/>
              <a:rect r="r" b="b" t="t" l="l"/>
              <a:pathLst>
                <a:path h="902464" w="1992042">
                  <a:moveTo>
                    <a:pt x="1832022" y="0"/>
                  </a:moveTo>
                  <a:lnTo>
                    <a:pt x="160020" y="0"/>
                  </a:lnTo>
                  <a:lnTo>
                    <a:pt x="0" y="160020"/>
                  </a:lnTo>
                  <a:lnTo>
                    <a:pt x="0" y="742444"/>
                  </a:lnTo>
                  <a:lnTo>
                    <a:pt x="160020" y="902464"/>
                  </a:lnTo>
                  <a:lnTo>
                    <a:pt x="1832022" y="902464"/>
                  </a:lnTo>
                  <a:lnTo>
                    <a:pt x="1992042" y="742444"/>
                  </a:lnTo>
                  <a:lnTo>
                    <a:pt x="1992042" y="160020"/>
                  </a:lnTo>
                  <a:lnTo>
                    <a:pt x="1832022" y="0"/>
                  </a:lnTo>
                  <a:close/>
                </a:path>
              </a:pathLst>
            </a:custGeom>
            <a:ln w="9525" cap="sq">
              <a:solidFill>
                <a:srgbClr val="1CC9F1"/>
              </a:solidFill>
              <a:prstDash val="solid"/>
              <a:miter/>
            </a:ln>
          </p:spPr>
        </p:sp>
        <p:sp>
          <p:nvSpPr>
            <p:cNvPr name="TextBox 19" id="19"/>
            <p:cNvSpPr txBox="true"/>
            <p:nvPr/>
          </p:nvSpPr>
          <p:spPr>
            <a:xfrm>
              <a:off x="63500" y="92075"/>
              <a:ext cx="1865042" cy="746889"/>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 NỘI SUY ĐA THỨC (CHƯƠNG 2): TỪ MỘT TẬP HỢP CÁC ĐIỂM DỮ LIỆU RỜI RẠC (VÍ DỤ: KẾT QUẢ ĐO ĐẠC THỰC NGHIỆM), TÌM RA MỘT ĐA THỨC ĐI QUA CHÍNH XÁC TẤT CẢ CÁC ĐIỂM ĐÓ.</a:t>
              </a: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Bình phương cực tiểu (Chương 3): Tìm một đường cong (tuyến tính, bậc hai, mũ, hoặc logarit) "khớp" nhất với dữ liệu có nhiễu, sao cho tổng bình phương sai số giữa đường cong và dữ liệu thực tế là nhỏ nhất.</a:t>
              </a: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Tích phân gần đúng (Chương 4): Tính diện tích dưới đường cong của một hàm số xác định bằng cách chia nhỏ diện tích đó thành các hình thang hoặc các parabol nhỏ (Simpson), đồng thời đánh giá mức độ sai số dựa trên số lượng mảnh chia.</a:t>
              </a: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Giải phương trình phi tuyến (Chương 5): Tìm nghiệm của các phương trình không có công thức giải tổng quát bằng cách khoanh vùng nghiệm (chia đôi), thay đường cong bằng dây cung (dây cung) hoặc xây dựng dãy hội tụ (lặp đơn).</a:t>
              </a:r>
            </a:p>
            <a:p>
              <a:pPr algn="ctr">
                <a:lnSpc>
                  <a:spcPts val="1782"/>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6000"/>
            </a:blip>
            <a:stretch>
              <a:fillRect l="0" t="-3333" r="0" b="-3333"/>
            </a:stretch>
          </a:blipFill>
        </p:spPr>
      </p:sp>
      <p:grpSp>
        <p:nvGrpSpPr>
          <p:cNvPr name="Group 3" id="3"/>
          <p:cNvGrpSpPr/>
          <p:nvPr/>
        </p:nvGrpSpPr>
        <p:grpSpPr>
          <a:xfrm rot="-10800000">
            <a:off x="855934" y="1324920"/>
            <a:ext cx="17033331" cy="1728934"/>
            <a:chOff x="0" y="0"/>
            <a:chExt cx="9592274" cy="973644"/>
          </a:xfrm>
        </p:grpSpPr>
        <p:sp>
          <p:nvSpPr>
            <p:cNvPr name="Freeform 4" id="4"/>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5" id="5"/>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10800000">
            <a:off x="703534" y="1172520"/>
            <a:ext cx="17033331" cy="1728934"/>
            <a:chOff x="0" y="0"/>
            <a:chExt cx="9592274" cy="973644"/>
          </a:xfrm>
        </p:grpSpPr>
        <p:sp>
          <p:nvSpPr>
            <p:cNvPr name="Freeform 7" id="7"/>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8" id="8"/>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9" id="9"/>
          <p:cNvGrpSpPr/>
          <p:nvPr/>
        </p:nvGrpSpPr>
        <p:grpSpPr>
          <a:xfrm rot="-10800000">
            <a:off x="551134" y="1020120"/>
            <a:ext cx="17033331" cy="1728934"/>
            <a:chOff x="0" y="0"/>
            <a:chExt cx="9592274" cy="973644"/>
          </a:xfrm>
        </p:grpSpPr>
        <p:sp>
          <p:nvSpPr>
            <p:cNvPr name="Freeform 10" id="10"/>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1" id="11"/>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2" id="12"/>
          <p:cNvGrpSpPr/>
          <p:nvPr/>
        </p:nvGrpSpPr>
        <p:grpSpPr>
          <a:xfrm rot="-10800000">
            <a:off x="398734" y="867720"/>
            <a:ext cx="17033331" cy="1728934"/>
            <a:chOff x="0" y="0"/>
            <a:chExt cx="9592274" cy="973644"/>
          </a:xfrm>
        </p:grpSpPr>
        <p:sp>
          <p:nvSpPr>
            <p:cNvPr name="Freeform 13" id="13"/>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4" id="14"/>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sp>
        <p:nvSpPr>
          <p:cNvPr name="TextBox 15" id="15"/>
          <p:cNvSpPr txBox="true"/>
          <p:nvPr/>
        </p:nvSpPr>
        <p:spPr>
          <a:xfrm rot="0">
            <a:off x="5093996" y="85725"/>
            <a:ext cx="8100009" cy="650401"/>
          </a:xfrm>
          <a:prstGeom prst="rect">
            <a:avLst/>
          </a:prstGeom>
        </p:spPr>
        <p:txBody>
          <a:bodyPr anchor="t" rtlCol="false" tIns="0" lIns="0" bIns="0" rIns="0">
            <a:spAutoFit/>
          </a:bodyPr>
          <a:lstStyle/>
          <a:p>
            <a:pPr algn="l">
              <a:lnSpc>
                <a:spcPts val="4804"/>
              </a:lnSpc>
            </a:pPr>
            <a:r>
              <a:rPr lang="en-US" sz="4852" spc="485">
                <a:solidFill>
                  <a:srgbClr val="FFFFFF"/>
                </a:solidFill>
                <a:latin typeface="Inndam"/>
                <a:ea typeface="Inndam"/>
                <a:cs typeface="Inndam"/>
                <a:sym typeface="Inndam"/>
              </a:rPr>
              <a:t>PHÂN TÍCH ĐỀ BÀI</a:t>
            </a:r>
          </a:p>
        </p:txBody>
      </p:sp>
      <p:sp>
        <p:nvSpPr>
          <p:cNvPr name="TextBox 16" id="16"/>
          <p:cNvSpPr txBox="true"/>
          <p:nvPr/>
        </p:nvSpPr>
        <p:spPr>
          <a:xfrm rot="0">
            <a:off x="551134" y="1701707"/>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2.CHỨC NĂNG CỤ THỂ</a:t>
            </a:r>
          </a:p>
        </p:txBody>
      </p:sp>
      <p:grpSp>
        <p:nvGrpSpPr>
          <p:cNvPr name="Group 17" id="17"/>
          <p:cNvGrpSpPr/>
          <p:nvPr/>
        </p:nvGrpSpPr>
        <p:grpSpPr>
          <a:xfrm rot="0">
            <a:off x="2007865" y="3187204"/>
            <a:ext cx="13815070" cy="6258704"/>
            <a:chOff x="0" y="0"/>
            <a:chExt cx="1992042" cy="902464"/>
          </a:xfrm>
        </p:grpSpPr>
        <p:sp>
          <p:nvSpPr>
            <p:cNvPr name="Freeform 18" id="18"/>
            <p:cNvSpPr/>
            <p:nvPr/>
          </p:nvSpPr>
          <p:spPr>
            <a:xfrm flipH="false" flipV="false" rot="0">
              <a:off x="0" y="0"/>
              <a:ext cx="1992042" cy="902464"/>
            </a:xfrm>
            <a:custGeom>
              <a:avLst/>
              <a:gdLst/>
              <a:ahLst/>
              <a:cxnLst/>
              <a:rect r="r" b="b" t="t" l="l"/>
              <a:pathLst>
                <a:path h="902464" w="1992042">
                  <a:moveTo>
                    <a:pt x="1832022" y="0"/>
                  </a:moveTo>
                  <a:lnTo>
                    <a:pt x="160020" y="0"/>
                  </a:lnTo>
                  <a:lnTo>
                    <a:pt x="0" y="160020"/>
                  </a:lnTo>
                  <a:lnTo>
                    <a:pt x="0" y="742444"/>
                  </a:lnTo>
                  <a:lnTo>
                    <a:pt x="160020" y="902464"/>
                  </a:lnTo>
                  <a:lnTo>
                    <a:pt x="1832022" y="902464"/>
                  </a:lnTo>
                  <a:lnTo>
                    <a:pt x="1992042" y="742444"/>
                  </a:lnTo>
                  <a:lnTo>
                    <a:pt x="1992042" y="160020"/>
                  </a:lnTo>
                  <a:lnTo>
                    <a:pt x="1832022" y="0"/>
                  </a:lnTo>
                  <a:close/>
                </a:path>
              </a:pathLst>
            </a:custGeom>
            <a:ln w="9525" cap="sq">
              <a:solidFill>
                <a:srgbClr val="1CC9F1"/>
              </a:solidFill>
              <a:prstDash val="solid"/>
              <a:miter/>
            </a:ln>
          </p:spPr>
        </p:sp>
        <p:sp>
          <p:nvSpPr>
            <p:cNvPr name="TextBox 19" id="19"/>
            <p:cNvSpPr txBox="true"/>
            <p:nvPr/>
          </p:nvSpPr>
          <p:spPr>
            <a:xfrm>
              <a:off x="63500" y="92075"/>
              <a:ext cx="1865042" cy="746889"/>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 MODULE GIẢI HỆ PHƯƠNG TRÌNH</a:t>
              </a:r>
            </a:p>
            <a:p>
              <a:pPr algn="ctr">
                <a:lnSpc>
                  <a:spcPts val="1782"/>
                </a:lnSpc>
              </a:pPr>
            </a:p>
            <a:p>
              <a:pPr algn="ctr">
                <a:lnSpc>
                  <a:spcPts val="1782"/>
                </a:lnSpc>
              </a:pPr>
              <a:r>
                <a:rPr lang="en-US" sz="1800" spc="279">
                  <a:solidFill>
                    <a:srgbClr val="FFFFFF"/>
                  </a:solidFill>
                  <a:latin typeface="Inndam"/>
                  <a:ea typeface="Inndam"/>
                  <a:cs typeface="Inndam"/>
                  <a:sym typeface="Inndam"/>
                </a:rPr>
                <a:t>· Module Nội suy</a:t>
              </a: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Module Tích phân</a:t>
              </a: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Module Tìm nghiệm</a:t>
              </a:r>
            </a:p>
            <a:p>
              <a:pPr algn="ctr">
                <a:lnSpc>
                  <a:spcPts val="1782"/>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6000"/>
            </a:blip>
            <a:stretch>
              <a:fillRect l="0" t="-3333" r="0" b="-3333"/>
            </a:stretch>
          </a:blipFill>
        </p:spPr>
      </p:sp>
      <p:grpSp>
        <p:nvGrpSpPr>
          <p:cNvPr name="Group 3" id="3"/>
          <p:cNvGrpSpPr/>
          <p:nvPr/>
        </p:nvGrpSpPr>
        <p:grpSpPr>
          <a:xfrm rot="-10800000">
            <a:off x="855934" y="1324920"/>
            <a:ext cx="17033331" cy="1728934"/>
            <a:chOff x="0" y="0"/>
            <a:chExt cx="9592274" cy="973644"/>
          </a:xfrm>
        </p:grpSpPr>
        <p:sp>
          <p:nvSpPr>
            <p:cNvPr name="Freeform 4" id="4"/>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5" id="5"/>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10800000">
            <a:off x="703534" y="1172520"/>
            <a:ext cx="17033331" cy="1728934"/>
            <a:chOff x="0" y="0"/>
            <a:chExt cx="9592274" cy="973644"/>
          </a:xfrm>
        </p:grpSpPr>
        <p:sp>
          <p:nvSpPr>
            <p:cNvPr name="Freeform 7" id="7"/>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8" id="8"/>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9" id="9"/>
          <p:cNvGrpSpPr/>
          <p:nvPr/>
        </p:nvGrpSpPr>
        <p:grpSpPr>
          <a:xfrm rot="-10800000">
            <a:off x="551134" y="1020120"/>
            <a:ext cx="17033331" cy="1728934"/>
            <a:chOff x="0" y="0"/>
            <a:chExt cx="9592274" cy="973644"/>
          </a:xfrm>
        </p:grpSpPr>
        <p:sp>
          <p:nvSpPr>
            <p:cNvPr name="Freeform 10" id="10"/>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1" id="11"/>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2" id="12"/>
          <p:cNvGrpSpPr/>
          <p:nvPr/>
        </p:nvGrpSpPr>
        <p:grpSpPr>
          <a:xfrm rot="-10800000">
            <a:off x="398734" y="867720"/>
            <a:ext cx="17033331" cy="1728934"/>
            <a:chOff x="0" y="0"/>
            <a:chExt cx="9592274" cy="973644"/>
          </a:xfrm>
        </p:grpSpPr>
        <p:sp>
          <p:nvSpPr>
            <p:cNvPr name="Freeform 13" id="13"/>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4" id="14"/>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sp>
        <p:nvSpPr>
          <p:cNvPr name="TextBox 15" id="15"/>
          <p:cNvSpPr txBox="true"/>
          <p:nvPr/>
        </p:nvSpPr>
        <p:spPr>
          <a:xfrm rot="0">
            <a:off x="5093996" y="85725"/>
            <a:ext cx="8100009" cy="650401"/>
          </a:xfrm>
          <a:prstGeom prst="rect">
            <a:avLst/>
          </a:prstGeom>
        </p:spPr>
        <p:txBody>
          <a:bodyPr anchor="t" rtlCol="false" tIns="0" lIns="0" bIns="0" rIns="0">
            <a:spAutoFit/>
          </a:bodyPr>
          <a:lstStyle/>
          <a:p>
            <a:pPr algn="l">
              <a:lnSpc>
                <a:spcPts val="4804"/>
              </a:lnSpc>
            </a:pPr>
            <a:r>
              <a:rPr lang="en-US" sz="4852" spc="485">
                <a:solidFill>
                  <a:srgbClr val="FFFFFF"/>
                </a:solidFill>
                <a:latin typeface="Inndam"/>
                <a:ea typeface="Inndam"/>
                <a:cs typeface="Inndam"/>
                <a:sym typeface="Inndam"/>
              </a:rPr>
              <a:t>PHÂN TÍCH ĐỀ BÀI</a:t>
            </a:r>
          </a:p>
        </p:txBody>
      </p:sp>
      <p:sp>
        <p:nvSpPr>
          <p:cNvPr name="TextBox 16" id="16"/>
          <p:cNvSpPr txBox="true"/>
          <p:nvPr/>
        </p:nvSpPr>
        <p:spPr>
          <a:xfrm rot="0">
            <a:off x="551134" y="1701707"/>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3.INPUT</a:t>
            </a:r>
          </a:p>
        </p:txBody>
      </p:sp>
      <p:grpSp>
        <p:nvGrpSpPr>
          <p:cNvPr name="Group 17" id="17"/>
          <p:cNvGrpSpPr/>
          <p:nvPr/>
        </p:nvGrpSpPr>
        <p:grpSpPr>
          <a:xfrm rot="0">
            <a:off x="2007865" y="3187204"/>
            <a:ext cx="13815070" cy="6258704"/>
            <a:chOff x="0" y="0"/>
            <a:chExt cx="1992042" cy="902464"/>
          </a:xfrm>
        </p:grpSpPr>
        <p:sp>
          <p:nvSpPr>
            <p:cNvPr name="Freeform 18" id="18"/>
            <p:cNvSpPr/>
            <p:nvPr/>
          </p:nvSpPr>
          <p:spPr>
            <a:xfrm flipH="false" flipV="false" rot="0">
              <a:off x="0" y="0"/>
              <a:ext cx="1992042" cy="902464"/>
            </a:xfrm>
            <a:custGeom>
              <a:avLst/>
              <a:gdLst/>
              <a:ahLst/>
              <a:cxnLst/>
              <a:rect r="r" b="b" t="t" l="l"/>
              <a:pathLst>
                <a:path h="902464" w="1992042">
                  <a:moveTo>
                    <a:pt x="1832022" y="0"/>
                  </a:moveTo>
                  <a:lnTo>
                    <a:pt x="160020" y="0"/>
                  </a:lnTo>
                  <a:lnTo>
                    <a:pt x="0" y="160020"/>
                  </a:lnTo>
                  <a:lnTo>
                    <a:pt x="0" y="742444"/>
                  </a:lnTo>
                  <a:lnTo>
                    <a:pt x="160020" y="902464"/>
                  </a:lnTo>
                  <a:lnTo>
                    <a:pt x="1832022" y="902464"/>
                  </a:lnTo>
                  <a:lnTo>
                    <a:pt x="1992042" y="742444"/>
                  </a:lnTo>
                  <a:lnTo>
                    <a:pt x="1992042" y="160020"/>
                  </a:lnTo>
                  <a:lnTo>
                    <a:pt x="1832022" y="0"/>
                  </a:lnTo>
                  <a:close/>
                </a:path>
              </a:pathLst>
            </a:custGeom>
            <a:ln w="9525" cap="sq">
              <a:solidFill>
                <a:srgbClr val="1CC9F1"/>
              </a:solidFill>
              <a:prstDash val="solid"/>
              <a:miter/>
            </a:ln>
          </p:spPr>
        </p:sp>
        <p:sp>
          <p:nvSpPr>
            <p:cNvPr name="TextBox 19" id="19"/>
            <p:cNvSpPr txBox="true"/>
            <p:nvPr/>
          </p:nvSpPr>
          <p:spPr>
            <a:xfrm>
              <a:off x="63500" y="92075"/>
              <a:ext cx="1865042" cy="746889"/>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 KIỂU DỮ LIỆU: </a:t>
              </a:r>
            </a:p>
            <a:p>
              <a:pPr algn="ctr">
                <a:lnSpc>
                  <a:spcPts val="1782"/>
                </a:lnSpc>
              </a:pPr>
            </a:p>
            <a:p>
              <a:pPr algn="ctr">
                <a:lnSpc>
                  <a:spcPts val="1782"/>
                </a:lnSpc>
              </a:pPr>
              <a:r>
                <a:rPr lang="en-US" sz="1800" spc="279">
                  <a:solidFill>
                    <a:srgbClr val="FFFFFF"/>
                  </a:solidFill>
                  <a:latin typeface="Inndam"/>
                  <a:ea typeface="Inndam"/>
                  <a:cs typeface="Inndam"/>
                  <a:sym typeface="Inndam"/>
                </a:rPr>
                <a:t>-</a:t>
              </a:r>
              <a:r>
                <a:rPr lang="en-US" sz="1800" spc="279">
                  <a:solidFill>
                    <a:srgbClr val="FFFFFF"/>
                  </a:solidFill>
                  <a:latin typeface="Inndam"/>
                  <a:ea typeface="Inndam"/>
                  <a:cs typeface="Inndam"/>
                  <a:sym typeface="Inndam"/>
                </a:rPr>
                <a:t>tọa độ điểm, giá trị hàm, hệ số) đều sử dụng kiểu số thực dấu phẩy động 64-bit (double). </a:t>
              </a:r>
            </a:p>
            <a:p>
              <a:pPr algn="ctr">
                <a:lnSpc>
                  <a:spcPts val="1782"/>
                </a:lnSpc>
              </a:pPr>
            </a:p>
            <a:p>
              <a:pPr algn="ctr">
                <a:lnSpc>
                  <a:spcPts val="1782"/>
                </a:lnSpc>
              </a:pPr>
              <a:r>
                <a:rPr lang="en-US" sz="1800" spc="279">
                  <a:solidFill>
                    <a:srgbClr val="FFFFFF"/>
                  </a:solidFill>
                  <a:latin typeface="Inndam"/>
                  <a:ea typeface="Inndam"/>
                  <a:cs typeface="Inndam"/>
                  <a:sym typeface="Inndam"/>
                </a:rPr>
                <a:t>-</a:t>
              </a:r>
              <a:r>
                <a:rPr lang="en-US" sz="1800" spc="279">
                  <a:solidFill>
                    <a:srgbClr val="FFFFFF"/>
                  </a:solidFill>
                  <a:latin typeface="Inndam"/>
                  <a:ea typeface="Inndam"/>
                  <a:cs typeface="Inndam"/>
                  <a:sym typeface="Inndam"/>
                </a:rPr>
                <a:t>Số lượng phần tử, số bước lặp hoặc số khoảng chia sử dụng số nguyên 32-bit (int).</a:t>
              </a: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Định dạng nạp dữ liệu: Dữ liệu không đọc từ file hay bàn phím (trừ n trong Bài 3) mà được hard-code (gắn cứng) trực tiếp vào các vector và mảng tĩnh trong từng hàm baiX().</a:t>
              </a:r>
            </a:p>
            <a:p>
              <a:pPr algn="ctr">
                <a:lnSpc>
                  <a:spcPts val="1782"/>
                </a:lnSpc>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6000"/>
            </a:blip>
            <a:stretch>
              <a:fillRect l="0" t="-3333" r="0" b="-3333"/>
            </a:stretch>
          </a:blipFill>
        </p:spPr>
      </p:sp>
      <p:grpSp>
        <p:nvGrpSpPr>
          <p:cNvPr name="Group 3" id="3"/>
          <p:cNvGrpSpPr/>
          <p:nvPr/>
        </p:nvGrpSpPr>
        <p:grpSpPr>
          <a:xfrm rot="-10800000">
            <a:off x="855934" y="1324920"/>
            <a:ext cx="17033331" cy="1728934"/>
            <a:chOff x="0" y="0"/>
            <a:chExt cx="9592274" cy="973644"/>
          </a:xfrm>
        </p:grpSpPr>
        <p:sp>
          <p:nvSpPr>
            <p:cNvPr name="Freeform 4" id="4"/>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5" id="5"/>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10800000">
            <a:off x="703534" y="1172520"/>
            <a:ext cx="17033331" cy="1728934"/>
            <a:chOff x="0" y="0"/>
            <a:chExt cx="9592274" cy="973644"/>
          </a:xfrm>
        </p:grpSpPr>
        <p:sp>
          <p:nvSpPr>
            <p:cNvPr name="Freeform 7" id="7"/>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8" id="8"/>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9" id="9"/>
          <p:cNvGrpSpPr/>
          <p:nvPr/>
        </p:nvGrpSpPr>
        <p:grpSpPr>
          <a:xfrm rot="-10800000">
            <a:off x="551134" y="1020120"/>
            <a:ext cx="17033331" cy="1728934"/>
            <a:chOff x="0" y="0"/>
            <a:chExt cx="9592274" cy="973644"/>
          </a:xfrm>
        </p:grpSpPr>
        <p:sp>
          <p:nvSpPr>
            <p:cNvPr name="Freeform 10" id="10"/>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1" id="11"/>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grpSp>
        <p:nvGrpSpPr>
          <p:cNvPr name="Group 12" id="12"/>
          <p:cNvGrpSpPr/>
          <p:nvPr/>
        </p:nvGrpSpPr>
        <p:grpSpPr>
          <a:xfrm rot="-10800000">
            <a:off x="398734" y="867720"/>
            <a:ext cx="17033331" cy="1728934"/>
            <a:chOff x="0" y="0"/>
            <a:chExt cx="9592274" cy="973644"/>
          </a:xfrm>
        </p:grpSpPr>
        <p:sp>
          <p:nvSpPr>
            <p:cNvPr name="Freeform 13" id="13"/>
            <p:cNvSpPr/>
            <p:nvPr/>
          </p:nvSpPr>
          <p:spPr>
            <a:xfrm flipH="false" flipV="false" rot="0">
              <a:off x="0" y="0"/>
              <a:ext cx="9592273" cy="973644"/>
            </a:xfrm>
            <a:custGeom>
              <a:avLst/>
              <a:gdLst/>
              <a:ahLst/>
              <a:cxnLst/>
              <a:rect r="r" b="b" t="t" l="l"/>
              <a:pathLst>
                <a:path h="973644" w="9592273">
                  <a:moveTo>
                    <a:pt x="9432254" y="0"/>
                  </a:moveTo>
                  <a:lnTo>
                    <a:pt x="160020" y="0"/>
                  </a:lnTo>
                  <a:lnTo>
                    <a:pt x="0" y="160020"/>
                  </a:lnTo>
                  <a:lnTo>
                    <a:pt x="0" y="813624"/>
                  </a:lnTo>
                  <a:lnTo>
                    <a:pt x="160020" y="973644"/>
                  </a:lnTo>
                  <a:lnTo>
                    <a:pt x="9432254" y="973644"/>
                  </a:lnTo>
                  <a:lnTo>
                    <a:pt x="9592273" y="813624"/>
                  </a:lnTo>
                  <a:lnTo>
                    <a:pt x="9592273" y="160020"/>
                  </a:lnTo>
                  <a:lnTo>
                    <a:pt x="9432254" y="0"/>
                  </a:lnTo>
                  <a:close/>
                </a:path>
              </a:pathLst>
            </a:custGeom>
            <a:ln w="9525" cap="sq">
              <a:solidFill>
                <a:srgbClr val="1CC9F1"/>
              </a:solidFill>
              <a:prstDash val="solid"/>
              <a:miter/>
            </a:ln>
          </p:spPr>
        </p:sp>
        <p:sp>
          <p:nvSpPr>
            <p:cNvPr name="TextBox 14" id="14"/>
            <p:cNvSpPr txBox="true"/>
            <p:nvPr/>
          </p:nvSpPr>
          <p:spPr>
            <a:xfrm>
              <a:off x="63500" y="92075"/>
              <a:ext cx="9465274" cy="818069"/>
            </a:xfrm>
            <a:prstGeom prst="rect">
              <a:avLst/>
            </a:prstGeom>
          </p:spPr>
          <p:txBody>
            <a:bodyPr anchor="ctr" rtlCol="false" tIns="50800" lIns="50800" bIns="50800" rIns="50800"/>
            <a:lstStyle/>
            <a:p>
              <a:pPr algn="ctr">
                <a:lnSpc>
                  <a:spcPts val="1782"/>
                </a:lnSpc>
              </a:pPr>
            </a:p>
          </p:txBody>
        </p:sp>
      </p:grpSp>
      <p:sp>
        <p:nvSpPr>
          <p:cNvPr name="TextBox 15" id="15"/>
          <p:cNvSpPr txBox="true"/>
          <p:nvPr/>
        </p:nvSpPr>
        <p:spPr>
          <a:xfrm rot="0">
            <a:off x="5093996" y="85725"/>
            <a:ext cx="8100009" cy="650401"/>
          </a:xfrm>
          <a:prstGeom prst="rect">
            <a:avLst/>
          </a:prstGeom>
        </p:spPr>
        <p:txBody>
          <a:bodyPr anchor="t" rtlCol="false" tIns="0" lIns="0" bIns="0" rIns="0">
            <a:spAutoFit/>
          </a:bodyPr>
          <a:lstStyle/>
          <a:p>
            <a:pPr algn="l">
              <a:lnSpc>
                <a:spcPts val="4804"/>
              </a:lnSpc>
            </a:pPr>
            <a:r>
              <a:rPr lang="en-US" sz="4852" spc="485">
                <a:solidFill>
                  <a:srgbClr val="FFFFFF"/>
                </a:solidFill>
                <a:latin typeface="Inndam"/>
                <a:ea typeface="Inndam"/>
                <a:cs typeface="Inndam"/>
                <a:sym typeface="Inndam"/>
              </a:rPr>
              <a:t>PHÂN TÍCH ĐỀ BÀI</a:t>
            </a:r>
          </a:p>
        </p:txBody>
      </p:sp>
      <p:sp>
        <p:nvSpPr>
          <p:cNvPr name="TextBox 16" id="16"/>
          <p:cNvSpPr txBox="true"/>
          <p:nvPr/>
        </p:nvSpPr>
        <p:spPr>
          <a:xfrm rot="0">
            <a:off x="551134" y="1701707"/>
            <a:ext cx="17033331" cy="514351"/>
          </a:xfrm>
          <a:prstGeom prst="rect">
            <a:avLst/>
          </a:prstGeom>
        </p:spPr>
        <p:txBody>
          <a:bodyPr anchor="t" rtlCol="false" tIns="0" lIns="0" bIns="0" rIns="0">
            <a:spAutoFit/>
          </a:bodyPr>
          <a:lstStyle/>
          <a:p>
            <a:pPr algn="ctr">
              <a:lnSpc>
                <a:spcPts val="4199"/>
              </a:lnSpc>
              <a:spcBef>
                <a:spcPct val="0"/>
              </a:spcBef>
            </a:pPr>
            <a:r>
              <a:rPr lang="en-US" sz="2999" spc="464">
                <a:solidFill>
                  <a:srgbClr val="FFFFFF"/>
                </a:solidFill>
                <a:latin typeface="Inndam"/>
                <a:ea typeface="Inndam"/>
                <a:cs typeface="Inndam"/>
                <a:sym typeface="Inndam"/>
              </a:rPr>
              <a:t>3.OUTPUT</a:t>
            </a:r>
          </a:p>
        </p:txBody>
      </p:sp>
      <p:grpSp>
        <p:nvGrpSpPr>
          <p:cNvPr name="Group 17" id="17"/>
          <p:cNvGrpSpPr/>
          <p:nvPr/>
        </p:nvGrpSpPr>
        <p:grpSpPr>
          <a:xfrm rot="0">
            <a:off x="2007865" y="3187204"/>
            <a:ext cx="13815070" cy="6258704"/>
            <a:chOff x="0" y="0"/>
            <a:chExt cx="1992042" cy="902464"/>
          </a:xfrm>
        </p:grpSpPr>
        <p:sp>
          <p:nvSpPr>
            <p:cNvPr name="Freeform 18" id="18"/>
            <p:cNvSpPr/>
            <p:nvPr/>
          </p:nvSpPr>
          <p:spPr>
            <a:xfrm flipH="false" flipV="false" rot="0">
              <a:off x="0" y="0"/>
              <a:ext cx="1992042" cy="902464"/>
            </a:xfrm>
            <a:custGeom>
              <a:avLst/>
              <a:gdLst/>
              <a:ahLst/>
              <a:cxnLst/>
              <a:rect r="r" b="b" t="t" l="l"/>
              <a:pathLst>
                <a:path h="902464" w="1992042">
                  <a:moveTo>
                    <a:pt x="1832022" y="0"/>
                  </a:moveTo>
                  <a:lnTo>
                    <a:pt x="160020" y="0"/>
                  </a:lnTo>
                  <a:lnTo>
                    <a:pt x="0" y="160020"/>
                  </a:lnTo>
                  <a:lnTo>
                    <a:pt x="0" y="742444"/>
                  </a:lnTo>
                  <a:lnTo>
                    <a:pt x="160020" y="902464"/>
                  </a:lnTo>
                  <a:lnTo>
                    <a:pt x="1832022" y="902464"/>
                  </a:lnTo>
                  <a:lnTo>
                    <a:pt x="1992042" y="742444"/>
                  </a:lnTo>
                  <a:lnTo>
                    <a:pt x="1992042" y="160020"/>
                  </a:lnTo>
                  <a:lnTo>
                    <a:pt x="1832022" y="0"/>
                  </a:lnTo>
                  <a:close/>
                </a:path>
              </a:pathLst>
            </a:custGeom>
            <a:ln w="9525" cap="sq">
              <a:solidFill>
                <a:srgbClr val="1CC9F1"/>
              </a:solidFill>
              <a:prstDash val="solid"/>
              <a:miter/>
            </a:ln>
          </p:spPr>
        </p:sp>
        <p:sp>
          <p:nvSpPr>
            <p:cNvPr name="TextBox 19" id="19"/>
            <p:cNvSpPr txBox="true"/>
            <p:nvPr/>
          </p:nvSpPr>
          <p:spPr>
            <a:xfrm>
              <a:off x="63500" y="92075"/>
              <a:ext cx="1865042" cy="746889"/>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 ĐỊNH DẠNG: IN KẾT QUẢ TRỰC TIẾP RA MÀN HÌNH CONSOLE.</a:t>
              </a:r>
            </a:p>
            <a:p>
              <a:pPr algn="ctr">
                <a:lnSpc>
                  <a:spcPts val="1782"/>
                </a:lnSpc>
              </a:pP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 Hiển thị: Yêu cầu hiển thị chuỗi đa thức chuẩn xác (không in các hệ số bằng 0, căn chỉnh dấu +, - hợp lý). </a:t>
              </a:r>
            </a:p>
            <a:p>
              <a:pPr algn="ctr">
                <a:lnSpc>
                  <a:spcPts val="1782"/>
                </a:lnSpc>
              </a:pPr>
            </a:p>
            <a:p>
              <a:pPr algn="ctr">
                <a:lnSpc>
                  <a:spcPts val="1782"/>
                </a:lnSpc>
              </a:pPr>
              <a:r>
                <a:rPr lang="en-US" sz="1800" spc="279">
                  <a:solidFill>
                    <a:srgbClr val="FFFFFF"/>
                  </a:solidFill>
                  <a:latin typeface="Inndam"/>
                  <a:ea typeface="Inndam"/>
                  <a:cs typeface="Inndam"/>
                  <a:sym typeface="Inndam"/>
                </a:rPr>
                <a:t>Các số thập phân được định dạng cố định 6 đến 12 chữ số sau dấu phẩy thông qua std::setprecision của thư viện &lt;iomanip&gt;.</a:t>
              </a:r>
            </a:p>
            <a:p>
              <a:pPr algn="ctr">
                <a:lnSpc>
                  <a:spcPts val="1782"/>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1715903" y="2381637"/>
            <a:ext cx="6206878" cy="1352644"/>
            <a:chOff x="0" y="0"/>
            <a:chExt cx="1515189" cy="330200"/>
          </a:xfrm>
        </p:grpSpPr>
        <p:sp>
          <p:nvSpPr>
            <p:cNvPr name="Freeform 7" id="7">
              <a:hlinkClick r:id="rId3"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94EBFF"/>
                  </a:solidFill>
                  <a:latin typeface="Inndam"/>
                  <a:ea typeface="Inndam"/>
                  <a:cs typeface="Inndam"/>
                  <a:sym typeface="Inndam"/>
                  <a:hlinkClick r:id="rId3" action="ppaction://hlinksldjump"/>
                </a:rPr>
                <a:t>PHÂN TÍCH ĐỀ BÀI</a:t>
              </a:r>
            </a:p>
          </p:txBody>
        </p:sp>
      </p:grpSp>
      <p:grpSp>
        <p:nvGrpSpPr>
          <p:cNvPr name="Group 9" id="9"/>
          <p:cNvGrpSpPr/>
          <p:nvPr/>
        </p:nvGrpSpPr>
        <p:grpSpPr>
          <a:xfrm rot="0">
            <a:off x="471885" y="2381637"/>
            <a:ext cx="1856152" cy="1352644"/>
            <a:chOff x="0" y="0"/>
            <a:chExt cx="453114" cy="330200"/>
          </a:xfrm>
        </p:grpSpPr>
        <p:sp>
          <p:nvSpPr>
            <p:cNvPr name="Freeform 10" id="10">
              <a:hlinkClick r:id="rId3"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9958573" y="7005887"/>
            <a:ext cx="6206878" cy="1352644"/>
            <a:chOff x="0" y="0"/>
            <a:chExt cx="1515189" cy="330200"/>
          </a:xfrm>
        </p:grpSpPr>
        <p:sp>
          <p:nvSpPr>
            <p:cNvPr name="Freeform 13" id="13"/>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14" id="14"/>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15" id="15"/>
          <p:cNvGrpSpPr/>
          <p:nvPr/>
        </p:nvGrpSpPr>
        <p:grpSpPr>
          <a:xfrm rot="0">
            <a:off x="8473305" y="6985532"/>
            <a:ext cx="1856152" cy="1352644"/>
            <a:chOff x="0" y="0"/>
            <a:chExt cx="453114" cy="330200"/>
          </a:xfrm>
        </p:grpSpPr>
        <p:sp>
          <p:nvSpPr>
            <p:cNvPr name="Freeform 16" id="16"/>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7" id="17"/>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8" id="18"/>
          <p:cNvGrpSpPr/>
          <p:nvPr/>
        </p:nvGrpSpPr>
        <p:grpSpPr>
          <a:xfrm rot="0">
            <a:off x="10451714" y="3210359"/>
            <a:ext cx="6206878" cy="1352644"/>
            <a:chOff x="0" y="0"/>
            <a:chExt cx="1515189" cy="330200"/>
          </a:xfrm>
        </p:grpSpPr>
        <p:sp>
          <p:nvSpPr>
            <p:cNvPr name="Freeform 19" id="19">
              <a:hlinkClick r:id="rId4"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20" id="20"/>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5170FF"/>
                  </a:solidFill>
                  <a:latin typeface="Inndam"/>
                  <a:ea typeface="Inndam"/>
                  <a:cs typeface="Inndam"/>
                  <a:sym typeface="Inndam"/>
                  <a:hlinkClick r:id="rId4" action="ppaction://hlinksldjump"/>
                </a:rPr>
                <a:t>TỔNG QUAN GIẢI PHÁP</a:t>
              </a:r>
            </a:p>
          </p:txBody>
        </p:sp>
      </p:grpSp>
      <p:grpSp>
        <p:nvGrpSpPr>
          <p:cNvPr name="Group 21" id="21"/>
          <p:cNvGrpSpPr/>
          <p:nvPr/>
        </p:nvGrpSpPr>
        <p:grpSpPr>
          <a:xfrm rot="0">
            <a:off x="9144000" y="3210359"/>
            <a:ext cx="1856152" cy="1352644"/>
            <a:chOff x="0" y="0"/>
            <a:chExt cx="453114" cy="330200"/>
          </a:xfrm>
        </p:grpSpPr>
        <p:sp>
          <p:nvSpPr>
            <p:cNvPr name="Freeform 22" id="22">
              <a:hlinkClick r:id="rId4"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23" id="23"/>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24" id="24"/>
          <p:cNvGrpSpPr/>
          <p:nvPr/>
        </p:nvGrpSpPr>
        <p:grpSpPr>
          <a:xfrm rot="0">
            <a:off x="1950529" y="5318251"/>
            <a:ext cx="6206878" cy="1352644"/>
            <a:chOff x="0" y="0"/>
            <a:chExt cx="1515189" cy="330200"/>
          </a:xfrm>
        </p:grpSpPr>
        <p:sp>
          <p:nvSpPr>
            <p:cNvPr name="Freeform 25" id="25">
              <a:hlinkClick r:id="rId5"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26" id="26"/>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38B6FF"/>
                  </a:solidFill>
                  <a:latin typeface="Inndam"/>
                  <a:ea typeface="Inndam"/>
                  <a:cs typeface="Inndam"/>
                  <a:sym typeface="Inndam"/>
                  <a:hlinkClick r:id="rId5" action="ppaction://hlinksldjump"/>
                </a:rPr>
                <a:t>KIẾN THỨC &amp; THUẬT TOÁN</a:t>
              </a:r>
            </a:p>
          </p:txBody>
        </p:sp>
      </p:grpSp>
      <p:grpSp>
        <p:nvGrpSpPr>
          <p:cNvPr name="Group 27" id="27"/>
          <p:cNvGrpSpPr/>
          <p:nvPr/>
        </p:nvGrpSpPr>
        <p:grpSpPr>
          <a:xfrm rot="0">
            <a:off x="651192" y="5318251"/>
            <a:ext cx="1856152" cy="1352644"/>
            <a:chOff x="0" y="0"/>
            <a:chExt cx="453114" cy="330200"/>
          </a:xfrm>
        </p:grpSpPr>
        <p:sp>
          <p:nvSpPr>
            <p:cNvPr name="Freeform 28" id="28">
              <a:hlinkClick r:id="rId5"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29" id="29"/>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30" id="30"/>
          <p:cNvGrpSpPr/>
          <p:nvPr/>
        </p:nvGrpSpPr>
        <p:grpSpPr>
          <a:xfrm rot="0">
            <a:off x="1028700" y="2162032"/>
            <a:ext cx="662354" cy="1717827"/>
            <a:chOff x="0" y="0"/>
            <a:chExt cx="1818386" cy="4716018"/>
          </a:xfrm>
        </p:grpSpPr>
        <p:sp>
          <p:nvSpPr>
            <p:cNvPr name="Freeform 31" id="31">
              <a:hlinkClick r:id="rId3" action="ppaction://hlinksldjump"/>
            </p:cNvPr>
            <p:cNvSpPr/>
            <p:nvPr/>
          </p:nvSpPr>
          <p:spPr>
            <a:xfrm flipH="false" flipV="false" rot="0">
              <a:off x="0" y="-90"/>
              <a:ext cx="1818386" cy="4716108"/>
            </a:xfrm>
            <a:custGeom>
              <a:avLst/>
              <a:gdLst/>
              <a:ahLst/>
              <a:cxnLst/>
              <a:rect r="r" b="b" t="t" l="l"/>
              <a:pathLst>
                <a:path h="4716108" w="1818386">
                  <a:moveTo>
                    <a:pt x="495935" y="3992843"/>
                  </a:moveTo>
                  <a:lnTo>
                    <a:pt x="495935" y="1141312"/>
                  </a:lnTo>
                  <a:cubicBezTo>
                    <a:pt x="495935" y="838290"/>
                    <a:pt x="392557" y="803746"/>
                    <a:pt x="0" y="900266"/>
                  </a:cubicBezTo>
                  <a:lnTo>
                    <a:pt x="0" y="665951"/>
                  </a:lnTo>
                  <a:cubicBezTo>
                    <a:pt x="420116" y="590132"/>
                    <a:pt x="1053846" y="170016"/>
                    <a:pt x="1239774" y="32221"/>
                  </a:cubicBezTo>
                  <a:cubicBezTo>
                    <a:pt x="1315593" y="-22897"/>
                    <a:pt x="1391285" y="-9054"/>
                    <a:pt x="1363726" y="87339"/>
                  </a:cubicBezTo>
                  <a:cubicBezTo>
                    <a:pt x="1336167" y="183732"/>
                    <a:pt x="1322451" y="486881"/>
                    <a:pt x="1322451" y="755486"/>
                  </a:cubicBezTo>
                  <a:lnTo>
                    <a:pt x="1322451" y="900139"/>
                  </a:lnTo>
                  <a:cubicBezTo>
                    <a:pt x="1322451" y="968973"/>
                    <a:pt x="1322451" y="1044792"/>
                    <a:pt x="1322451" y="1141185"/>
                  </a:cubicBezTo>
                  <a:lnTo>
                    <a:pt x="1322451" y="3992843"/>
                  </a:lnTo>
                  <a:cubicBezTo>
                    <a:pt x="1322451" y="4516337"/>
                    <a:pt x="1515364" y="4660990"/>
                    <a:pt x="1818386" y="4716108"/>
                  </a:cubicBezTo>
                  <a:lnTo>
                    <a:pt x="0" y="4716108"/>
                  </a:lnTo>
                  <a:cubicBezTo>
                    <a:pt x="303022" y="4660990"/>
                    <a:pt x="495935" y="4516337"/>
                    <a:pt x="495935" y="3992843"/>
                  </a:cubicBezTo>
                  <a:close/>
                </a:path>
              </a:pathLst>
            </a:custGeom>
            <a:blipFill>
              <a:blip r:embed="rId6"/>
              <a:stretch>
                <a:fillRect l="-133453" t="0" r="-133453"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32" id="32"/>
          <p:cNvGrpSpPr/>
          <p:nvPr/>
        </p:nvGrpSpPr>
        <p:grpSpPr>
          <a:xfrm rot="0">
            <a:off x="9514454" y="3027767"/>
            <a:ext cx="1115245" cy="1717827"/>
            <a:chOff x="0" y="0"/>
            <a:chExt cx="3548634" cy="5466010"/>
          </a:xfrm>
        </p:grpSpPr>
        <p:sp>
          <p:nvSpPr>
            <p:cNvPr name="Freeform 33" id="33">
              <a:hlinkClick r:id="rId4" action="ppaction://hlinksldjump"/>
            </p:cNvPr>
            <p:cNvSpPr/>
            <p:nvPr/>
          </p:nvSpPr>
          <p:spPr>
            <a:xfrm flipH="false" flipV="false" rot="0">
              <a:off x="-43" y="311"/>
              <a:ext cx="3548678" cy="5465700"/>
            </a:xfrm>
            <a:custGeom>
              <a:avLst/>
              <a:gdLst/>
              <a:ahLst/>
              <a:cxnLst/>
              <a:rect r="r" b="b" t="t" l="l"/>
              <a:pathLst>
                <a:path h="5465700" w="3548678">
                  <a:moveTo>
                    <a:pt x="3548677" y="4016517"/>
                  </a:moveTo>
                  <a:lnTo>
                    <a:pt x="3355764" y="5465699"/>
                  </a:lnTo>
                  <a:lnTo>
                    <a:pt x="77132" y="5465699"/>
                  </a:lnTo>
                  <a:cubicBezTo>
                    <a:pt x="22014" y="5465699"/>
                    <a:pt x="1313" y="5418245"/>
                    <a:pt x="42715" y="5370644"/>
                  </a:cubicBezTo>
                  <a:cubicBezTo>
                    <a:pt x="1688889" y="3200886"/>
                    <a:pt x="2432855" y="2408910"/>
                    <a:pt x="2432855" y="1458655"/>
                  </a:cubicBezTo>
                  <a:cubicBezTo>
                    <a:pt x="2432855" y="682593"/>
                    <a:pt x="1840527" y="175781"/>
                    <a:pt x="1199939" y="318290"/>
                  </a:cubicBezTo>
                  <a:cubicBezTo>
                    <a:pt x="697146" y="429114"/>
                    <a:pt x="504233" y="896357"/>
                    <a:pt x="235628" y="1624964"/>
                  </a:cubicBezTo>
                  <a:cubicBezTo>
                    <a:pt x="208069" y="1704103"/>
                    <a:pt x="152951" y="1688334"/>
                    <a:pt x="146093" y="1617079"/>
                  </a:cubicBezTo>
                  <a:cubicBezTo>
                    <a:pt x="132250" y="1276430"/>
                    <a:pt x="104691" y="928042"/>
                    <a:pt x="1313" y="587539"/>
                  </a:cubicBezTo>
                  <a:cubicBezTo>
                    <a:pt x="-5545" y="547969"/>
                    <a:pt x="15029" y="508400"/>
                    <a:pt x="49573" y="484599"/>
                  </a:cubicBezTo>
                  <a:cubicBezTo>
                    <a:pt x="641901" y="151981"/>
                    <a:pt x="1206797" y="1441"/>
                    <a:pt x="1571795" y="1441"/>
                  </a:cubicBezTo>
                  <a:cubicBezTo>
                    <a:pt x="2143549" y="-12503"/>
                    <a:pt x="2742735" y="64811"/>
                    <a:pt x="3094017" y="674563"/>
                  </a:cubicBezTo>
                  <a:cubicBezTo>
                    <a:pt x="3417740" y="1228975"/>
                    <a:pt x="3300646" y="2131630"/>
                    <a:pt x="2756451" y="2781098"/>
                  </a:cubicBezTo>
                  <a:cubicBezTo>
                    <a:pt x="2281217" y="3351280"/>
                    <a:pt x="1730164" y="3968916"/>
                    <a:pt x="1227371" y="4515444"/>
                  </a:cubicBezTo>
                  <a:lnTo>
                    <a:pt x="2770294" y="4515444"/>
                  </a:lnTo>
                  <a:cubicBezTo>
                    <a:pt x="3087159" y="4515444"/>
                    <a:pt x="3355764" y="4436159"/>
                    <a:pt x="3548677" y="4016517"/>
                  </a:cubicBezTo>
                  <a:close/>
                </a:path>
              </a:pathLst>
            </a:custGeom>
            <a:blipFill>
              <a:blip r:embed="rId6"/>
              <a:stretch>
                <a:fillRect l="-58944" t="0" r="-58944"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34" id="34"/>
          <p:cNvGrpSpPr/>
          <p:nvPr/>
        </p:nvGrpSpPr>
        <p:grpSpPr>
          <a:xfrm rot="0">
            <a:off x="949795" y="5132249"/>
            <a:ext cx="1258946" cy="1724649"/>
            <a:chOff x="0" y="0"/>
            <a:chExt cx="4018280" cy="5504700"/>
          </a:xfrm>
        </p:grpSpPr>
        <p:sp>
          <p:nvSpPr>
            <p:cNvPr name="Freeform 35" id="35">
              <a:hlinkClick r:id="rId5" action="ppaction://hlinksldjump"/>
            </p:cNvPr>
            <p:cNvSpPr/>
            <p:nvPr/>
          </p:nvSpPr>
          <p:spPr>
            <a:xfrm flipH="false" flipV="false" rot="0">
              <a:off x="0" y="0"/>
              <a:ext cx="4018280" cy="5504700"/>
            </a:xfrm>
            <a:custGeom>
              <a:avLst/>
              <a:gdLst/>
              <a:ahLst/>
              <a:cxnLst/>
              <a:rect r="r" b="b" t="t" l="l"/>
              <a:pathLst>
                <a:path h="5504700" w="4018280">
                  <a:moveTo>
                    <a:pt x="563880" y="331810"/>
                  </a:moveTo>
                  <a:cubicBezTo>
                    <a:pt x="877570" y="111001"/>
                    <a:pt x="1342390" y="0"/>
                    <a:pt x="1958340" y="0"/>
                  </a:cubicBezTo>
                  <a:cubicBezTo>
                    <a:pt x="3149600" y="0"/>
                    <a:pt x="3743960" y="404617"/>
                    <a:pt x="3743960" y="1213851"/>
                  </a:cubicBezTo>
                  <a:cubicBezTo>
                    <a:pt x="3743960" y="1544467"/>
                    <a:pt x="3604260" y="1817792"/>
                    <a:pt x="3324860" y="2035020"/>
                  </a:cubicBezTo>
                  <a:cubicBezTo>
                    <a:pt x="3045460" y="2251055"/>
                    <a:pt x="2644140" y="2402637"/>
                    <a:pt x="2122170" y="2489767"/>
                  </a:cubicBezTo>
                  <a:lnTo>
                    <a:pt x="2122170" y="2505283"/>
                  </a:lnTo>
                  <a:cubicBezTo>
                    <a:pt x="2769870" y="2550638"/>
                    <a:pt x="3247390" y="2698640"/>
                    <a:pt x="3556000" y="2948094"/>
                  </a:cubicBezTo>
                  <a:cubicBezTo>
                    <a:pt x="3864610" y="3197548"/>
                    <a:pt x="4018280" y="3521003"/>
                    <a:pt x="4018280" y="3917264"/>
                  </a:cubicBezTo>
                  <a:cubicBezTo>
                    <a:pt x="4018280" y="4405431"/>
                    <a:pt x="3816350" y="4793338"/>
                    <a:pt x="3411220" y="5077405"/>
                  </a:cubicBezTo>
                  <a:cubicBezTo>
                    <a:pt x="3006090" y="5362666"/>
                    <a:pt x="2443480" y="5504700"/>
                    <a:pt x="1723390" y="5504700"/>
                  </a:cubicBezTo>
                  <a:cubicBezTo>
                    <a:pt x="1441450" y="5504700"/>
                    <a:pt x="1178560" y="5473667"/>
                    <a:pt x="935990" y="5412796"/>
                  </a:cubicBezTo>
                  <a:cubicBezTo>
                    <a:pt x="693420" y="5351924"/>
                    <a:pt x="476250" y="5231374"/>
                    <a:pt x="285750" y="5049953"/>
                  </a:cubicBezTo>
                  <a:cubicBezTo>
                    <a:pt x="95250" y="4869726"/>
                    <a:pt x="0" y="4654885"/>
                    <a:pt x="0" y="4405431"/>
                  </a:cubicBezTo>
                  <a:cubicBezTo>
                    <a:pt x="0" y="4155977"/>
                    <a:pt x="60960" y="3962620"/>
                    <a:pt x="184150" y="3825361"/>
                  </a:cubicBezTo>
                  <a:cubicBezTo>
                    <a:pt x="307340" y="3688101"/>
                    <a:pt x="474980" y="3618875"/>
                    <a:pt x="689610" y="3618875"/>
                  </a:cubicBezTo>
                  <a:cubicBezTo>
                    <a:pt x="904240" y="3618875"/>
                    <a:pt x="1073150" y="3673778"/>
                    <a:pt x="1198880" y="3783586"/>
                  </a:cubicBezTo>
                  <a:cubicBezTo>
                    <a:pt x="1324610" y="3893394"/>
                    <a:pt x="1386840" y="4023492"/>
                    <a:pt x="1386840" y="4172687"/>
                  </a:cubicBezTo>
                  <a:cubicBezTo>
                    <a:pt x="1386840" y="4323075"/>
                    <a:pt x="1366520" y="4450786"/>
                    <a:pt x="1324610" y="4558206"/>
                  </a:cubicBezTo>
                  <a:lnTo>
                    <a:pt x="1080770" y="4558206"/>
                  </a:lnTo>
                  <a:cubicBezTo>
                    <a:pt x="1049020" y="4639369"/>
                    <a:pt x="1033780" y="4724112"/>
                    <a:pt x="1033780" y="4810048"/>
                  </a:cubicBezTo>
                  <a:cubicBezTo>
                    <a:pt x="1033780" y="5171697"/>
                    <a:pt x="1253490" y="5351924"/>
                    <a:pt x="1691640" y="5351924"/>
                  </a:cubicBezTo>
                  <a:cubicBezTo>
                    <a:pt x="2000250" y="5351924"/>
                    <a:pt x="2209800" y="5237342"/>
                    <a:pt x="2322830" y="5008179"/>
                  </a:cubicBezTo>
                  <a:cubicBezTo>
                    <a:pt x="2434590" y="4779015"/>
                    <a:pt x="2491740" y="4448399"/>
                    <a:pt x="2491740" y="4015137"/>
                  </a:cubicBezTo>
                  <a:cubicBezTo>
                    <a:pt x="2491740" y="3583068"/>
                    <a:pt x="2438400" y="3267968"/>
                    <a:pt x="2331720" y="3072224"/>
                  </a:cubicBezTo>
                  <a:cubicBezTo>
                    <a:pt x="2225040" y="2876480"/>
                    <a:pt x="2066290" y="2727285"/>
                    <a:pt x="1858010" y="2625833"/>
                  </a:cubicBezTo>
                  <a:cubicBezTo>
                    <a:pt x="1670050" y="2666414"/>
                    <a:pt x="1442720" y="2699833"/>
                    <a:pt x="1176020" y="2724898"/>
                  </a:cubicBezTo>
                  <a:lnTo>
                    <a:pt x="1151890" y="2556606"/>
                  </a:lnTo>
                  <a:cubicBezTo>
                    <a:pt x="1611630" y="2511251"/>
                    <a:pt x="1912620" y="2403830"/>
                    <a:pt x="2056130" y="2235539"/>
                  </a:cubicBezTo>
                  <a:cubicBezTo>
                    <a:pt x="2199640" y="2067246"/>
                    <a:pt x="2272030" y="1768856"/>
                    <a:pt x="2272030" y="1337981"/>
                  </a:cubicBezTo>
                  <a:cubicBezTo>
                    <a:pt x="2272030" y="908300"/>
                    <a:pt x="2228850" y="600361"/>
                    <a:pt x="2142490" y="414166"/>
                  </a:cubicBezTo>
                  <a:cubicBezTo>
                    <a:pt x="2056130" y="227970"/>
                    <a:pt x="1911350" y="136066"/>
                    <a:pt x="1708150" y="136066"/>
                  </a:cubicBezTo>
                  <a:cubicBezTo>
                    <a:pt x="1504950" y="136066"/>
                    <a:pt x="1360170" y="195744"/>
                    <a:pt x="1273810" y="315100"/>
                  </a:cubicBezTo>
                  <a:cubicBezTo>
                    <a:pt x="1186180" y="436843"/>
                    <a:pt x="1143000" y="550231"/>
                    <a:pt x="1143000" y="656458"/>
                  </a:cubicBezTo>
                  <a:cubicBezTo>
                    <a:pt x="1143000" y="762685"/>
                    <a:pt x="1158240" y="858170"/>
                    <a:pt x="1189990" y="939332"/>
                  </a:cubicBezTo>
                  <a:lnTo>
                    <a:pt x="1417320" y="939332"/>
                  </a:lnTo>
                  <a:cubicBezTo>
                    <a:pt x="1459230" y="1046752"/>
                    <a:pt x="1479550" y="1174463"/>
                    <a:pt x="1479550" y="1324852"/>
                  </a:cubicBezTo>
                  <a:cubicBezTo>
                    <a:pt x="1479550" y="1475240"/>
                    <a:pt x="1414780" y="1605339"/>
                    <a:pt x="1283970" y="1713953"/>
                  </a:cubicBezTo>
                  <a:cubicBezTo>
                    <a:pt x="1153160" y="1823760"/>
                    <a:pt x="980440" y="1878664"/>
                    <a:pt x="767080" y="1878664"/>
                  </a:cubicBezTo>
                  <a:cubicBezTo>
                    <a:pt x="552450" y="1878664"/>
                    <a:pt x="387350" y="1811824"/>
                    <a:pt x="269240" y="1675759"/>
                  </a:cubicBezTo>
                  <a:cubicBezTo>
                    <a:pt x="152400" y="1540886"/>
                    <a:pt x="93980" y="1371401"/>
                    <a:pt x="93980" y="1168495"/>
                  </a:cubicBezTo>
                  <a:cubicBezTo>
                    <a:pt x="93980" y="831911"/>
                    <a:pt x="250190" y="553812"/>
                    <a:pt x="563880" y="331810"/>
                  </a:cubicBezTo>
                  <a:close/>
                </a:path>
              </a:pathLst>
            </a:custGeom>
            <a:blipFill>
              <a:blip r:embed="rId6"/>
              <a:stretch>
                <a:fillRect l="-46899" t="0" r="-46899"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36" id="36"/>
          <p:cNvGrpSpPr/>
          <p:nvPr/>
        </p:nvGrpSpPr>
        <p:grpSpPr>
          <a:xfrm rot="0">
            <a:off x="8473305" y="6670895"/>
            <a:ext cx="1485268" cy="1687636"/>
            <a:chOff x="0" y="0"/>
            <a:chExt cx="4488180" cy="5099694"/>
          </a:xfrm>
        </p:grpSpPr>
        <p:sp>
          <p:nvSpPr>
            <p:cNvPr name="Freeform 37" id="37"/>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6"/>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38" id="38"/>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9" id="39"/>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9958573" y="7005887"/>
            <a:ext cx="6206878" cy="1352644"/>
            <a:chOff x="0" y="0"/>
            <a:chExt cx="1515189" cy="330200"/>
          </a:xfrm>
        </p:grpSpPr>
        <p:sp>
          <p:nvSpPr>
            <p:cNvPr name="Freeform 7" id="7"/>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9" id="9"/>
          <p:cNvGrpSpPr/>
          <p:nvPr/>
        </p:nvGrpSpPr>
        <p:grpSpPr>
          <a:xfrm rot="0">
            <a:off x="8473305" y="6985532"/>
            <a:ext cx="1856152" cy="1352644"/>
            <a:chOff x="0" y="0"/>
            <a:chExt cx="453114" cy="330200"/>
          </a:xfrm>
        </p:grpSpPr>
        <p:sp>
          <p:nvSpPr>
            <p:cNvPr name="Freeform 10" id="10"/>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10451714" y="3210359"/>
            <a:ext cx="6206878" cy="1352644"/>
            <a:chOff x="0" y="0"/>
            <a:chExt cx="1515189" cy="330200"/>
          </a:xfrm>
        </p:grpSpPr>
        <p:sp>
          <p:nvSpPr>
            <p:cNvPr name="Freeform 13" id="13">
              <a:hlinkClick r:id="rId3"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14" id="14"/>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5170FF"/>
                  </a:solidFill>
                  <a:latin typeface="Inndam"/>
                  <a:ea typeface="Inndam"/>
                  <a:cs typeface="Inndam"/>
                  <a:sym typeface="Inndam"/>
                  <a:hlinkClick r:id="rId3" action="ppaction://hlinksldjump"/>
                </a:rPr>
                <a:t>TỔNG QUAN GIẢI PHÁP</a:t>
              </a:r>
            </a:p>
          </p:txBody>
        </p:sp>
      </p:grpSp>
      <p:grpSp>
        <p:nvGrpSpPr>
          <p:cNvPr name="Group 15" id="15"/>
          <p:cNvGrpSpPr/>
          <p:nvPr/>
        </p:nvGrpSpPr>
        <p:grpSpPr>
          <a:xfrm rot="0">
            <a:off x="9144000" y="3210359"/>
            <a:ext cx="1856152" cy="1352644"/>
            <a:chOff x="0" y="0"/>
            <a:chExt cx="453114" cy="330200"/>
          </a:xfrm>
        </p:grpSpPr>
        <p:sp>
          <p:nvSpPr>
            <p:cNvPr name="Freeform 16" id="16">
              <a:hlinkClick r:id="rId3"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7" id="17"/>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8" id="18"/>
          <p:cNvGrpSpPr/>
          <p:nvPr/>
        </p:nvGrpSpPr>
        <p:grpSpPr>
          <a:xfrm rot="0">
            <a:off x="1950529" y="5318251"/>
            <a:ext cx="6206878" cy="1352644"/>
            <a:chOff x="0" y="0"/>
            <a:chExt cx="1515189" cy="330200"/>
          </a:xfrm>
        </p:grpSpPr>
        <p:sp>
          <p:nvSpPr>
            <p:cNvPr name="Freeform 19" id="19">
              <a:hlinkClick r:id="rId4"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20" id="20"/>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38B6FF"/>
                  </a:solidFill>
                  <a:latin typeface="Inndam"/>
                  <a:ea typeface="Inndam"/>
                  <a:cs typeface="Inndam"/>
                  <a:sym typeface="Inndam"/>
                  <a:hlinkClick r:id="rId4" action="ppaction://hlinksldjump"/>
                </a:rPr>
                <a:t>KIẾN THỨC &amp; THUẬT TOÁN</a:t>
              </a:r>
            </a:p>
          </p:txBody>
        </p:sp>
      </p:grpSp>
      <p:grpSp>
        <p:nvGrpSpPr>
          <p:cNvPr name="Group 21" id="21"/>
          <p:cNvGrpSpPr/>
          <p:nvPr/>
        </p:nvGrpSpPr>
        <p:grpSpPr>
          <a:xfrm rot="0">
            <a:off x="651192" y="5318251"/>
            <a:ext cx="1856152" cy="1352644"/>
            <a:chOff x="0" y="0"/>
            <a:chExt cx="453114" cy="330200"/>
          </a:xfrm>
        </p:grpSpPr>
        <p:sp>
          <p:nvSpPr>
            <p:cNvPr name="Freeform 22" id="22">
              <a:hlinkClick r:id="rId4"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23" id="23"/>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24" id="24"/>
          <p:cNvGrpSpPr/>
          <p:nvPr/>
        </p:nvGrpSpPr>
        <p:grpSpPr>
          <a:xfrm rot="0">
            <a:off x="9514454" y="3027767"/>
            <a:ext cx="1115245" cy="1717827"/>
            <a:chOff x="0" y="0"/>
            <a:chExt cx="3548634" cy="5466010"/>
          </a:xfrm>
        </p:grpSpPr>
        <p:sp>
          <p:nvSpPr>
            <p:cNvPr name="Freeform 25" id="25">
              <a:hlinkClick r:id="rId3" action="ppaction://hlinksldjump"/>
            </p:cNvPr>
            <p:cNvSpPr/>
            <p:nvPr/>
          </p:nvSpPr>
          <p:spPr>
            <a:xfrm flipH="false" flipV="false" rot="0">
              <a:off x="-43" y="311"/>
              <a:ext cx="3548678" cy="5465700"/>
            </a:xfrm>
            <a:custGeom>
              <a:avLst/>
              <a:gdLst/>
              <a:ahLst/>
              <a:cxnLst/>
              <a:rect r="r" b="b" t="t" l="l"/>
              <a:pathLst>
                <a:path h="5465700" w="3548678">
                  <a:moveTo>
                    <a:pt x="3548677" y="4016517"/>
                  </a:moveTo>
                  <a:lnTo>
                    <a:pt x="3355764" y="5465699"/>
                  </a:lnTo>
                  <a:lnTo>
                    <a:pt x="77132" y="5465699"/>
                  </a:lnTo>
                  <a:cubicBezTo>
                    <a:pt x="22014" y="5465699"/>
                    <a:pt x="1313" y="5418245"/>
                    <a:pt x="42715" y="5370644"/>
                  </a:cubicBezTo>
                  <a:cubicBezTo>
                    <a:pt x="1688889" y="3200886"/>
                    <a:pt x="2432855" y="2408910"/>
                    <a:pt x="2432855" y="1458655"/>
                  </a:cubicBezTo>
                  <a:cubicBezTo>
                    <a:pt x="2432855" y="682593"/>
                    <a:pt x="1840527" y="175781"/>
                    <a:pt x="1199939" y="318290"/>
                  </a:cubicBezTo>
                  <a:cubicBezTo>
                    <a:pt x="697146" y="429114"/>
                    <a:pt x="504233" y="896357"/>
                    <a:pt x="235628" y="1624964"/>
                  </a:cubicBezTo>
                  <a:cubicBezTo>
                    <a:pt x="208069" y="1704103"/>
                    <a:pt x="152951" y="1688334"/>
                    <a:pt x="146093" y="1617079"/>
                  </a:cubicBezTo>
                  <a:cubicBezTo>
                    <a:pt x="132250" y="1276430"/>
                    <a:pt x="104691" y="928042"/>
                    <a:pt x="1313" y="587539"/>
                  </a:cubicBezTo>
                  <a:cubicBezTo>
                    <a:pt x="-5545" y="547969"/>
                    <a:pt x="15029" y="508400"/>
                    <a:pt x="49573" y="484599"/>
                  </a:cubicBezTo>
                  <a:cubicBezTo>
                    <a:pt x="641901" y="151981"/>
                    <a:pt x="1206797" y="1441"/>
                    <a:pt x="1571795" y="1441"/>
                  </a:cubicBezTo>
                  <a:cubicBezTo>
                    <a:pt x="2143549" y="-12503"/>
                    <a:pt x="2742735" y="64811"/>
                    <a:pt x="3094017" y="674563"/>
                  </a:cubicBezTo>
                  <a:cubicBezTo>
                    <a:pt x="3417740" y="1228975"/>
                    <a:pt x="3300646" y="2131630"/>
                    <a:pt x="2756451" y="2781098"/>
                  </a:cubicBezTo>
                  <a:cubicBezTo>
                    <a:pt x="2281217" y="3351280"/>
                    <a:pt x="1730164" y="3968916"/>
                    <a:pt x="1227371" y="4515444"/>
                  </a:cubicBezTo>
                  <a:lnTo>
                    <a:pt x="2770294" y="4515444"/>
                  </a:lnTo>
                  <a:cubicBezTo>
                    <a:pt x="3087159" y="4515444"/>
                    <a:pt x="3355764" y="4436159"/>
                    <a:pt x="3548677" y="4016517"/>
                  </a:cubicBezTo>
                  <a:close/>
                </a:path>
              </a:pathLst>
            </a:custGeom>
            <a:blipFill>
              <a:blip r:embed="rId5"/>
              <a:stretch>
                <a:fillRect l="-58944" t="0" r="-58944"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26" id="26"/>
          <p:cNvGrpSpPr/>
          <p:nvPr/>
        </p:nvGrpSpPr>
        <p:grpSpPr>
          <a:xfrm rot="0">
            <a:off x="949795" y="5132249"/>
            <a:ext cx="1258946" cy="1724649"/>
            <a:chOff x="0" y="0"/>
            <a:chExt cx="4018280" cy="5504700"/>
          </a:xfrm>
        </p:grpSpPr>
        <p:sp>
          <p:nvSpPr>
            <p:cNvPr name="Freeform 27" id="27">
              <a:hlinkClick r:id="rId4" action="ppaction://hlinksldjump"/>
            </p:cNvPr>
            <p:cNvSpPr/>
            <p:nvPr/>
          </p:nvSpPr>
          <p:spPr>
            <a:xfrm flipH="false" flipV="false" rot="0">
              <a:off x="0" y="0"/>
              <a:ext cx="4018280" cy="5504700"/>
            </a:xfrm>
            <a:custGeom>
              <a:avLst/>
              <a:gdLst/>
              <a:ahLst/>
              <a:cxnLst/>
              <a:rect r="r" b="b" t="t" l="l"/>
              <a:pathLst>
                <a:path h="5504700" w="4018280">
                  <a:moveTo>
                    <a:pt x="563880" y="331810"/>
                  </a:moveTo>
                  <a:cubicBezTo>
                    <a:pt x="877570" y="111001"/>
                    <a:pt x="1342390" y="0"/>
                    <a:pt x="1958340" y="0"/>
                  </a:cubicBezTo>
                  <a:cubicBezTo>
                    <a:pt x="3149600" y="0"/>
                    <a:pt x="3743960" y="404617"/>
                    <a:pt x="3743960" y="1213851"/>
                  </a:cubicBezTo>
                  <a:cubicBezTo>
                    <a:pt x="3743960" y="1544467"/>
                    <a:pt x="3604260" y="1817792"/>
                    <a:pt x="3324860" y="2035020"/>
                  </a:cubicBezTo>
                  <a:cubicBezTo>
                    <a:pt x="3045460" y="2251055"/>
                    <a:pt x="2644140" y="2402637"/>
                    <a:pt x="2122170" y="2489767"/>
                  </a:cubicBezTo>
                  <a:lnTo>
                    <a:pt x="2122170" y="2505283"/>
                  </a:lnTo>
                  <a:cubicBezTo>
                    <a:pt x="2769870" y="2550638"/>
                    <a:pt x="3247390" y="2698640"/>
                    <a:pt x="3556000" y="2948094"/>
                  </a:cubicBezTo>
                  <a:cubicBezTo>
                    <a:pt x="3864610" y="3197548"/>
                    <a:pt x="4018280" y="3521003"/>
                    <a:pt x="4018280" y="3917264"/>
                  </a:cubicBezTo>
                  <a:cubicBezTo>
                    <a:pt x="4018280" y="4405431"/>
                    <a:pt x="3816350" y="4793338"/>
                    <a:pt x="3411220" y="5077405"/>
                  </a:cubicBezTo>
                  <a:cubicBezTo>
                    <a:pt x="3006090" y="5362666"/>
                    <a:pt x="2443480" y="5504700"/>
                    <a:pt x="1723390" y="5504700"/>
                  </a:cubicBezTo>
                  <a:cubicBezTo>
                    <a:pt x="1441450" y="5504700"/>
                    <a:pt x="1178560" y="5473667"/>
                    <a:pt x="935990" y="5412796"/>
                  </a:cubicBezTo>
                  <a:cubicBezTo>
                    <a:pt x="693420" y="5351924"/>
                    <a:pt x="476250" y="5231374"/>
                    <a:pt x="285750" y="5049953"/>
                  </a:cubicBezTo>
                  <a:cubicBezTo>
                    <a:pt x="95250" y="4869726"/>
                    <a:pt x="0" y="4654885"/>
                    <a:pt x="0" y="4405431"/>
                  </a:cubicBezTo>
                  <a:cubicBezTo>
                    <a:pt x="0" y="4155977"/>
                    <a:pt x="60960" y="3962620"/>
                    <a:pt x="184150" y="3825361"/>
                  </a:cubicBezTo>
                  <a:cubicBezTo>
                    <a:pt x="307340" y="3688101"/>
                    <a:pt x="474980" y="3618875"/>
                    <a:pt x="689610" y="3618875"/>
                  </a:cubicBezTo>
                  <a:cubicBezTo>
                    <a:pt x="904240" y="3618875"/>
                    <a:pt x="1073150" y="3673778"/>
                    <a:pt x="1198880" y="3783586"/>
                  </a:cubicBezTo>
                  <a:cubicBezTo>
                    <a:pt x="1324610" y="3893394"/>
                    <a:pt x="1386840" y="4023492"/>
                    <a:pt x="1386840" y="4172687"/>
                  </a:cubicBezTo>
                  <a:cubicBezTo>
                    <a:pt x="1386840" y="4323075"/>
                    <a:pt x="1366520" y="4450786"/>
                    <a:pt x="1324610" y="4558206"/>
                  </a:cubicBezTo>
                  <a:lnTo>
                    <a:pt x="1080770" y="4558206"/>
                  </a:lnTo>
                  <a:cubicBezTo>
                    <a:pt x="1049020" y="4639369"/>
                    <a:pt x="1033780" y="4724112"/>
                    <a:pt x="1033780" y="4810048"/>
                  </a:cubicBezTo>
                  <a:cubicBezTo>
                    <a:pt x="1033780" y="5171697"/>
                    <a:pt x="1253490" y="5351924"/>
                    <a:pt x="1691640" y="5351924"/>
                  </a:cubicBezTo>
                  <a:cubicBezTo>
                    <a:pt x="2000250" y="5351924"/>
                    <a:pt x="2209800" y="5237342"/>
                    <a:pt x="2322830" y="5008179"/>
                  </a:cubicBezTo>
                  <a:cubicBezTo>
                    <a:pt x="2434590" y="4779015"/>
                    <a:pt x="2491740" y="4448399"/>
                    <a:pt x="2491740" y="4015137"/>
                  </a:cubicBezTo>
                  <a:cubicBezTo>
                    <a:pt x="2491740" y="3583068"/>
                    <a:pt x="2438400" y="3267968"/>
                    <a:pt x="2331720" y="3072224"/>
                  </a:cubicBezTo>
                  <a:cubicBezTo>
                    <a:pt x="2225040" y="2876480"/>
                    <a:pt x="2066290" y="2727285"/>
                    <a:pt x="1858010" y="2625833"/>
                  </a:cubicBezTo>
                  <a:cubicBezTo>
                    <a:pt x="1670050" y="2666414"/>
                    <a:pt x="1442720" y="2699833"/>
                    <a:pt x="1176020" y="2724898"/>
                  </a:cubicBezTo>
                  <a:lnTo>
                    <a:pt x="1151890" y="2556606"/>
                  </a:lnTo>
                  <a:cubicBezTo>
                    <a:pt x="1611630" y="2511251"/>
                    <a:pt x="1912620" y="2403830"/>
                    <a:pt x="2056130" y="2235539"/>
                  </a:cubicBezTo>
                  <a:cubicBezTo>
                    <a:pt x="2199640" y="2067246"/>
                    <a:pt x="2272030" y="1768856"/>
                    <a:pt x="2272030" y="1337981"/>
                  </a:cubicBezTo>
                  <a:cubicBezTo>
                    <a:pt x="2272030" y="908300"/>
                    <a:pt x="2228850" y="600361"/>
                    <a:pt x="2142490" y="414166"/>
                  </a:cubicBezTo>
                  <a:cubicBezTo>
                    <a:pt x="2056130" y="227970"/>
                    <a:pt x="1911350" y="136066"/>
                    <a:pt x="1708150" y="136066"/>
                  </a:cubicBezTo>
                  <a:cubicBezTo>
                    <a:pt x="1504950" y="136066"/>
                    <a:pt x="1360170" y="195744"/>
                    <a:pt x="1273810" y="315100"/>
                  </a:cubicBezTo>
                  <a:cubicBezTo>
                    <a:pt x="1186180" y="436843"/>
                    <a:pt x="1143000" y="550231"/>
                    <a:pt x="1143000" y="656458"/>
                  </a:cubicBezTo>
                  <a:cubicBezTo>
                    <a:pt x="1143000" y="762685"/>
                    <a:pt x="1158240" y="858170"/>
                    <a:pt x="1189990" y="939332"/>
                  </a:cubicBezTo>
                  <a:lnTo>
                    <a:pt x="1417320" y="939332"/>
                  </a:lnTo>
                  <a:cubicBezTo>
                    <a:pt x="1459230" y="1046752"/>
                    <a:pt x="1479550" y="1174463"/>
                    <a:pt x="1479550" y="1324852"/>
                  </a:cubicBezTo>
                  <a:cubicBezTo>
                    <a:pt x="1479550" y="1475240"/>
                    <a:pt x="1414780" y="1605339"/>
                    <a:pt x="1283970" y="1713953"/>
                  </a:cubicBezTo>
                  <a:cubicBezTo>
                    <a:pt x="1153160" y="1823760"/>
                    <a:pt x="980440" y="1878664"/>
                    <a:pt x="767080" y="1878664"/>
                  </a:cubicBezTo>
                  <a:cubicBezTo>
                    <a:pt x="552450" y="1878664"/>
                    <a:pt x="387350" y="1811824"/>
                    <a:pt x="269240" y="1675759"/>
                  </a:cubicBezTo>
                  <a:cubicBezTo>
                    <a:pt x="152400" y="1540886"/>
                    <a:pt x="93980" y="1371401"/>
                    <a:pt x="93980" y="1168495"/>
                  </a:cubicBezTo>
                  <a:cubicBezTo>
                    <a:pt x="93980" y="831911"/>
                    <a:pt x="250190" y="553812"/>
                    <a:pt x="563880" y="331810"/>
                  </a:cubicBezTo>
                  <a:close/>
                </a:path>
              </a:pathLst>
            </a:custGeom>
            <a:blipFill>
              <a:blip r:embed="rId5"/>
              <a:stretch>
                <a:fillRect l="-46899" t="0" r="-46899"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28" id="28"/>
          <p:cNvGrpSpPr/>
          <p:nvPr/>
        </p:nvGrpSpPr>
        <p:grpSpPr>
          <a:xfrm rot="0">
            <a:off x="8473305" y="6670895"/>
            <a:ext cx="1485268" cy="1687636"/>
            <a:chOff x="0" y="0"/>
            <a:chExt cx="4488180" cy="5099694"/>
          </a:xfrm>
        </p:grpSpPr>
        <p:sp>
          <p:nvSpPr>
            <p:cNvPr name="Freeform 29" id="29"/>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5"/>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30" id="30"/>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332720"/>
          </a:xfrm>
          <a:custGeom>
            <a:avLst/>
            <a:gdLst/>
            <a:ahLst/>
            <a:cxnLst/>
            <a:rect r="r" b="b" t="t" l="l"/>
            <a:pathLst>
              <a:path h="10332720" w="18288000">
                <a:moveTo>
                  <a:pt x="0" y="0"/>
                </a:moveTo>
                <a:lnTo>
                  <a:pt x="18288000" y="0"/>
                </a:lnTo>
                <a:lnTo>
                  <a:pt x="18288000" y="10332720"/>
                </a:lnTo>
                <a:lnTo>
                  <a:pt x="0" y="10332720"/>
                </a:lnTo>
                <a:lnTo>
                  <a:pt x="0" y="0"/>
                </a:lnTo>
                <a:close/>
              </a:path>
            </a:pathLst>
          </a:custGeom>
          <a:blipFill>
            <a:blip r:embed="rId2">
              <a:alphaModFix amt="25000"/>
            </a:blip>
            <a:stretch>
              <a:fillRect l="0" t="0" r="0" b="0"/>
            </a:stretch>
          </a:blipFill>
        </p:spPr>
      </p:sp>
      <p:grpSp>
        <p:nvGrpSpPr>
          <p:cNvPr name="Group 3" id="3"/>
          <p:cNvGrpSpPr/>
          <p:nvPr/>
        </p:nvGrpSpPr>
        <p:grpSpPr>
          <a:xfrm rot="0">
            <a:off x="2208412" y="3279894"/>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1028700" y="2687526"/>
            <a:ext cx="11914426" cy="47625"/>
            <a:chOff x="0" y="0"/>
            <a:chExt cx="3137956" cy="12543"/>
          </a:xfrm>
        </p:grpSpPr>
        <p:sp>
          <p:nvSpPr>
            <p:cNvPr name="Freeform 7" id="7"/>
            <p:cNvSpPr/>
            <p:nvPr/>
          </p:nvSpPr>
          <p:spPr>
            <a:xfrm flipH="false" flipV="false" rot="0">
              <a:off x="0" y="0"/>
              <a:ext cx="3137956" cy="12543"/>
            </a:xfrm>
            <a:custGeom>
              <a:avLst/>
              <a:gdLst/>
              <a:ahLst/>
              <a:cxnLst/>
              <a:rect r="r" b="b" t="t" l="l"/>
              <a:pathLst>
                <a:path h="12543" w="3137956">
                  <a:moveTo>
                    <a:pt x="0" y="0"/>
                  </a:moveTo>
                  <a:lnTo>
                    <a:pt x="3137956" y="0"/>
                  </a:lnTo>
                  <a:lnTo>
                    <a:pt x="3137956" y="12543"/>
                  </a:lnTo>
                  <a:lnTo>
                    <a:pt x="0" y="12543"/>
                  </a:lnTo>
                  <a:close/>
                </a:path>
              </a:pathLst>
            </a:custGeom>
            <a:solidFill>
              <a:srgbClr val="1CC9F1"/>
            </a:solidFill>
          </p:spPr>
        </p:sp>
        <p:sp>
          <p:nvSpPr>
            <p:cNvPr name="TextBox 8" id="8"/>
            <p:cNvSpPr txBox="true"/>
            <p:nvPr/>
          </p:nvSpPr>
          <p:spPr>
            <a:xfrm>
              <a:off x="0" y="28575"/>
              <a:ext cx="3137956" cy="12543"/>
            </a:xfrm>
            <a:prstGeom prst="rect">
              <a:avLst/>
            </a:prstGeom>
          </p:spPr>
          <p:txBody>
            <a:bodyPr anchor="ctr" rtlCol="false" tIns="50800" lIns="50800" bIns="50800" rIns="50800"/>
            <a:lstStyle/>
            <a:p>
              <a:pPr algn="ctr">
                <a:lnSpc>
                  <a:spcPts val="1782"/>
                </a:lnSpc>
              </a:pPr>
            </a:p>
          </p:txBody>
        </p:sp>
      </p:grpSp>
      <p:grpSp>
        <p:nvGrpSpPr>
          <p:cNvPr name="Group 9" id="9"/>
          <p:cNvGrpSpPr/>
          <p:nvPr/>
        </p:nvGrpSpPr>
        <p:grpSpPr>
          <a:xfrm rot="0">
            <a:off x="9454447" y="6699836"/>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p>
          </p:txBody>
        </p:sp>
      </p:grpSp>
      <p:sp>
        <p:nvSpPr>
          <p:cNvPr name="TextBox 12" id="12"/>
          <p:cNvSpPr txBox="true"/>
          <p:nvPr/>
        </p:nvSpPr>
        <p:spPr>
          <a:xfrm rot="0">
            <a:off x="1035874" y="911851"/>
            <a:ext cx="7238860" cy="918612"/>
          </a:xfrm>
          <a:prstGeom prst="rect">
            <a:avLst/>
          </a:prstGeom>
        </p:spPr>
        <p:txBody>
          <a:bodyPr anchor="t" rtlCol="false" tIns="0" lIns="0" bIns="0" rIns="0">
            <a:spAutoFit/>
          </a:bodyPr>
          <a:lstStyle/>
          <a:p>
            <a:pPr algn="l">
              <a:lnSpc>
                <a:spcPts val="5845"/>
              </a:lnSpc>
            </a:pPr>
            <a:r>
              <a:rPr lang="en-US" sz="9428" spc="-207">
                <a:solidFill>
                  <a:srgbClr val="1CC9F1"/>
                </a:solidFill>
                <a:latin typeface="Inndam"/>
                <a:ea typeface="Inndam"/>
                <a:cs typeface="Inndam"/>
                <a:sym typeface="Inndam"/>
              </a:rPr>
              <a:t>SOLUTION</a:t>
            </a:r>
          </a:p>
        </p:txBody>
      </p:sp>
      <p:sp>
        <p:nvSpPr>
          <p:cNvPr name="TextBox 13" id="13"/>
          <p:cNvSpPr txBox="true"/>
          <p:nvPr/>
        </p:nvSpPr>
        <p:spPr>
          <a:xfrm rot="0">
            <a:off x="2904214" y="4031963"/>
            <a:ext cx="4895345" cy="818769"/>
          </a:xfrm>
          <a:prstGeom prst="rect">
            <a:avLst/>
          </a:prstGeom>
        </p:spPr>
        <p:txBody>
          <a:bodyPr anchor="t" rtlCol="false" tIns="0" lIns="0" bIns="0" rIns="0">
            <a:spAutoFit/>
          </a:bodyPr>
          <a:lstStyle/>
          <a:p>
            <a:pPr algn="l">
              <a:lnSpc>
                <a:spcPts val="3168"/>
              </a:lnSpc>
            </a:pPr>
            <a:r>
              <a:rPr lang="en-US" sz="3200" spc="320">
                <a:solidFill>
                  <a:srgbClr val="1CC9F1"/>
                </a:solidFill>
                <a:latin typeface="Inndam"/>
                <a:ea typeface="Inndam"/>
                <a:cs typeface="Inndam"/>
                <a:sym typeface="Inndam"/>
              </a:rPr>
              <a:t>Ý TƯỞNG GIẢI QUYẾT</a:t>
            </a:r>
          </a:p>
        </p:txBody>
      </p:sp>
      <p:sp>
        <p:nvSpPr>
          <p:cNvPr name="TextBox 14" id="14"/>
          <p:cNvSpPr txBox="true"/>
          <p:nvPr/>
        </p:nvSpPr>
        <p:spPr>
          <a:xfrm rot="0">
            <a:off x="9930036" y="7451905"/>
            <a:ext cx="4895345" cy="1218819"/>
          </a:xfrm>
          <a:prstGeom prst="rect">
            <a:avLst/>
          </a:prstGeom>
        </p:spPr>
        <p:txBody>
          <a:bodyPr anchor="t" rtlCol="false" tIns="0" lIns="0" bIns="0" rIns="0">
            <a:spAutoFit/>
          </a:bodyPr>
          <a:lstStyle/>
          <a:p>
            <a:pPr algn="l">
              <a:lnSpc>
                <a:spcPts val="3168"/>
              </a:lnSpc>
            </a:pPr>
            <a:r>
              <a:rPr lang="en-US" sz="3200" spc="320">
                <a:solidFill>
                  <a:srgbClr val="1CC9F1"/>
                </a:solidFill>
                <a:latin typeface="Inndam"/>
                <a:ea typeface="Inndam"/>
                <a:cs typeface="Inndam"/>
                <a:sym typeface="Inndam"/>
              </a:rPr>
              <a:t>SƠ ĐỒ LUỒNG XỬ LÝ CHƯƠNG TRÌNH</a:t>
            </a:r>
          </a:p>
        </p:txBody>
      </p:sp>
      <p:sp>
        <p:nvSpPr>
          <p:cNvPr name="Freeform 15" id="15"/>
          <p:cNvSpPr/>
          <p:nvPr/>
        </p:nvSpPr>
        <p:spPr>
          <a:xfrm flipH="false" flipV="true" rot="0">
            <a:off x="8274734" y="5520152"/>
            <a:ext cx="1368438" cy="1368438"/>
          </a:xfrm>
          <a:custGeom>
            <a:avLst/>
            <a:gdLst/>
            <a:ahLst/>
            <a:cxnLst/>
            <a:rect r="r" b="b" t="t" l="l"/>
            <a:pathLst>
              <a:path h="1368438" w="1368438">
                <a:moveTo>
                  <a:pt x="0" y="1368438"/>
                </a:moveTo>
                <a:lnTo>
                  <a:pt x="1368438" y="1368438"/>
                </a:lnTo>
                <a:lnTo>
                  <a:pt x="1368438" y="0"/>
                </a:lnTo>
                <a:lnTo>
                  <a:pt x="0" y="0"/>
                </a:lnTo>
                <a:lnTo>
                  <a:pt x="0" y="1368438"/>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28295"/>
            <a:ext cx="18396705" cy="10258705"/>
          </a:xfrm>
          <a:custGeom>
            <a:avLst/>
            <a:gdLst/>
            <a:ahLst/>
            <a:cxnLst/>
            <a:rect r="r" b="b" t="t" l="l"/>
            <a:pathLst>
              <a:path h="10258705" w="18396705">
                <a:moveTo>
                  <a:pt x="0" y="0"/>
                </a:moveTo>
                <a:lnTo>
                  <a:pt x="18396705" y="0"/>
                </a:lnTo>
                <a:lnTo>
                  <a:pt x="18396705" y="10258705"/>
                </a:lnTo>
                <a:lnTo>
                  <a:pt x="0" y="10258705"/>
                </a:lnTo>
                <a:lnTo>
                  <a:pt x="0" y="0"/>
                </a:lnTo>
                <a:close/>
              </a:path>
            </a:pathLst>
          </a:custGeom>
          <a:blipFill>
            <a:blip r:embed="rId2">
              <a:alphaModFix amt="41000"/>
            </a:blip>
            <a:stretch>
              <a:fillRect l="0" t="-9626" r="0" b="-9626"/>
            </a:stretch>
          </a:blipFill>
        </p:spPr>
      </p:sp>
      <p:grpSp>
        <p:nvGrpSpPr>
          <p:cNvPr name="Group 3" id="3"/>
          <p:cNvGrpSpPr/>
          <p:nvPr/>
        </p:nvGrpSpPr>
        <p:grpSpPr>
          <a:xfrm rot="0">
            <a:off x="2105186" y="2537178"/>
            <a:ext cx="13815070" cy="6258704"/>
            <a:chOff x="0" y="0"/>
            <a:chExt cx="1992042" cy="902464"/>
          </a:xfrm>
        </p:grpSpPr>
        <p:sp>
          <p:nvSpPr>
            <p:cNvPr name="Freeform 4" id="4"/>
            <p:cNvSpPr/>
            <p:nvPr/>
          </p:nvSpPr>
          <p:spPr>
            <a:xfrm flipH="false" flipV="false" rot="0">
              <a:off x="0" y="0"/>
              <a:ext cx="1992042" cy="902464"/>
            </a:xfrm>
            <a:custGeom>
              <a:avLst/>
              <a:gdLst/>
              <a:ahLst/>
              <a:cxnLst/>
              <a:rect r="r" b="b" t="t" l="l"/>
              <a:pathLst>
                <a:path h="902464" w="1992042">
                  <a:moveTo>
                    <a:pt x="1832022" y="0"/>
                  </a:moveTo>
                  <a:lnTo>
                    <a:pt x="160020" y="0"/>
                  </a:lnTo>
                  <a:lnTo>
                    <a:pt x="0" y="160020"/>
                  </a:lnTo>
                  <a:lnTo>
                    <a:pt x="0" y="742444"/>
                  </a:lnTo>
                  <a:lnTo>
                    <a:pt x="160020" y="902464"/>
                  </a:lnTo>
                  <a:lnTo>
                    <a:pt x="1832022" y="902464"/>
                  </a:lnTo>
                  <a:lnTo>
                    <a:pt x="1992042" y="742444"/>
                  </a:lnTo>
                  <a:lnTo>
                    <a:pt x="1992042" y="160020"/>
                  </a:lnTo>
                  <a:lnTo>
                    <a:pt x="1832022" y="0"/>
                  </a:lnTo>
                  <a:close/>
                </a:path>
              </a:pathLst>
            </a:custGeom>
            <a:ln w="9525" cap="sq">
              <a:solidFill>
                <a:srgbClr val="1CC9F1"/>
              </a:solidFill>
              <a:prstDash val="solid"/>
              <a:miter/>
            </a:ln>
          </p:spPr>
        </p:sp>
        <p:sp>
          <p:nvSpPr>
            <p:cNvPr name="TextBox 5" id="5"/>
            <p:cNvSpPr txBox="true"/>
            <p:nvPr/>
          </p:nvSpPr>
          <p:spPr>
            <a:xfrm>
              <a:off x="63500" y="92075"/>
              <a:ext cx="1865042" cy="746889"/>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-KẾT HỢP TƯ TƯỞNG LẬP TRÌNH THỦ TỤC VỚI TƯ DUY MODULE HÓA</a:t>
              </a:r>
            </a:p>
            <a:p>
              <a:pPr algn="ctr">
                <a:lnSpc>
                  <a:spcPts val="1782"/>
                </a:lnSpc>
              </a:pPr>
            </a:p>
            <a:p>
              <a:pPr algn="ctr">
                <a:lnSpc>
                  <a:spcPts val="1782"/>
                </a:lnSpc>
              </a:pPr>
            </a:p>
            <a:p>
              <a:pPr algn="ctr">
                <a:lnSpc>
                  <a:spcPts val="1782"/>
                </a:lnSpc>
              </a:pPr>
            </a:p>
            <a:p>
              <a:pPr algn="ctr">
                <a:lnSpc>
                  <a:spcPts val="1782"/>
                </a:lnSpc>
              </a:pPr>
            </a:p>
            <a:p>
              <a:pPr algn="ctr">
                <a:lnSpc>
                  <a:spcPts val="1782"/>
                </a:lnSpc>
              </a:pPr>
            </a:p>
            <a:p>
              <a:pPr algn="ctr">
                <a:lnSpc>
                  <a:spcPts val="1782"/>
                </a:lnSpc>
              </a:pPr>
              <a:r>
                <a:rPr lang="en-US" sz="1800" spc="279">
                  <a:solidFill>
                    <a:srgbClr val="FFFFFF"/>
                  </a:solidFill>
                  <a:latin typeface="Inndam"/>
                  <a:ea typeface="Inndam"/>
                  <a:cs typeface="Inndam"/>
                  <a:sym typeface="Inndam"/>
                </a:rPr>
                <a:t>-TÁCH CÁC CÔNG THỨC TOÁN HỌC THÀNH CÁC HÀM</a:t>
              </a:r>
            </a:p>
          </p:txBody>
        </p:sp>
      </p:grpSp>
      <p:sp>
        <p:nvSpPr>
          <p:cNvPr name="Freeform 6" id="6"/>
          <p:cNvSpPr/>
          <p:nvPr/>
        </p:nvSpPr>
        <p:spPr>
          <a:xfrm flipH="false" flipV="true" rot="0">
            <a:off x="1803588" y="2341901"/>
            <a:ext cx="603197" cy="468300"/>
          </a:xfrm>
          <a:custGeom>
            <a:avLst/>
            <a:gdLst/>
            <a:ahLst/>
            <a:cxnLst/>
            <a:rect r="r" b="b" t="t" l="l"/>
            <a:pathLst>
              <a:path h="468300" w="603197">
                <a:moveTo>
                  <a:pt x="0" y="468300"/>
                </a:moveTo>
                <a:lnTo>
                  <a:pt x="603197" y="468300"/>
                </a:lnTo>
                <a:lnTo>
                  <a:pt x="603197" y="0"/>
                </a:lnTo>
                <a:lnTo>
                  <a:pt x="0" y="0"/>
                </a:lnTo>
                <a:lnTo>
                  <a:pt x="0" y="46830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635095" y="2099434"/>
            <a:ext cx="14755252" cy="47625"/>
            <a:chOff x="0" y="0"/>
            <a:chExt cx="5184064" cy="16732"/>
          </a:xfrm>
        </p:grpSpPr>
        <p:sp>
          <p:nvSpPr>
            <p:cNvPr name="Freeform 8" id="8"/>
            <p:cNvSpPr/>
            <p:nvPr/>
          </p:nvSpPr>
          <p:spPr>
            <a:xfrm flipH="false" flipV="false" rot="0">
              <a:off x="0" y="0"/>
              <a:ext cx="5184065" cy="16732"/>
            </a:xfrm>
            <a:custGeom>
              <a:avLst/>
              <a:gdLst/>
              <a:ahLst/>
              <a:cxnLst/>
              <a:rect r="r" b="b" t="t" l="l"/>
              <a:pathLst>
                <a:path h="16732" w="5184065">
                  <a:moveTo>
                    <a:pt x="0" y="0"/>
                  </a:moveTo>
                  <a:lnTo>
                    <a:pt x="5184065" y="0"/>
                  </a:lnTo>
                  <a:lnTo>
                    <a:pt x="5184065" y="16732"/>
                  </a:lnTo>
                  <a:lnTo>
                    <a:pt x="0" y="16732"/>
                  </a:lnTo>
                  <a:close/>
                </a:path>
              </a:pathLst>
            </a:custGeom>
            <a:solidFill>
              <a:srgbClr val="1CC9F1"/>
            </a:solidFill>
          </p:spPr>
        </p:sp>
        <p:sp>
          <p:nvSpPr>
            <p:cNvPr name="TextBox 9" id="9"/>
            <p:cNvSpPr txBox="true"/>
            <p:nvPr/>
          </p:nvSpPr>
          <p:spPr>
            <a:xfrm>
              <a:off x="0" y="28575"/>
              <a:ext cx="5184064" cy="16732"/>
            </a:xfrm>
            <a:prstGeom prst="rect">
              <a:avLst/>
            </a:prstGeom>
          </p:spPr>
          <p:txBody>
            <a:bodyPr anchor="ctr" rtlCol="false" tIns="50800" lIns="50800" bIns="50800" rIns="50800"/>
            <a:lstStyle/>
            <a:p>
              <a:pPr algn="ctr">
                <a:lnSpc>
                  <a:spcPts val="1782"/>
                </a:lnSpc>
              </a:pPr>
            </a:p>
          </p:txBody>
        </p:sp>
      </p:grpSp>
      <p:sp>
        <p:nvSpPr>
          <p:cNvPr name="TextBox 10" id="10"/>
          <p:cNvSpPr txBox="true"/>
          <p:nvPr/>
        </p:nvSpPr>
        <p:spPr>
          <a:xfrm rot="0">
            <a:off x="2862679" y="951903"/>
            <a:ext cx="12562642" cy="740304"/>
          </a:xfrm>
          <a:prstGeom prst="rect">
            <a:avLst/>
          </a:prstGeom>
        </p:spPr>
        <p:txBody>
          <a:bodyPr anchor="t" rtlCol="false" tIns="0" lIns="0" bIns="0" rIns="0">
            <a:spAutoFit/>
          </a:bodyPr>
          <a:lstStyle/>
          <a:p>
            <a:pPr algn="l">
              <a:lnSpc>
                <a:spcPts val="4785"/>
              </a:lnSpc>
            </a:pPr>
            <a:r>
              <a:rPr lang="en-US" sz="7718" spc="-169">
                <a:solidFill>
                  <a:srgbClr val="1CC9F1"/>
                </a:solidFill>
                <a:latin typeface="Inndam"/>
                <a:ea typeface="Inndam"/>
                <a:cs typeface="Inndam"/>
                <a:sym typeface="Inndam"/>
              </a:rPr>
              <a:t>Ý</a:t>
            </a:r>
            <a:r>
              <a:rPr lang="en-US" sz="7718" spc="-169">
                <a:solidFill>
                  <a:srgbClr val="1CC9F1"/>
                </a:solidFill>
                <a:latin typeface="Inndam"/>
                <a:ea typeface="Inndam"/>
                <a:cs typeface="Inndam"/>
                <a:sym typeface="Inndam"/>
              </a:rPr>
              <a:t> TƯỞNG GIẢI QUYẾT </a:t>
            </a:r>
          </a:p>
        </p:txBody>
      </p:sp>
      <p:grpSp>
        <p:nvGrpSpPr>
          <p:cNvPr name="Group 11" id="11"/>
          <p:cNvGrpSpPr/>
          <p:nvPr/>
        </p:nvGrpSpPr>
        <p:grpSpPr>
          <a:xfrm rot="0">
            <a:off x="1375406" y="9210675"/>
            <a:ext cx="14755252" cy="47625"/>
            <a:chOff x="0" y="0"/>
            <a:chExt cx="5184064" cy="16732"/>
          </a:xfrm>
        </p:grpSpPr>
        <p:sp>
          <p:nvSpPr>
            <p:cNvPr name="Freeform 12" id="12"/>
            <p:cNvSpPr/>
            <p:nvPr/>
          </p:nvSpPr>
          <p:spPr>
            <a:xfrm flipH="false" flipV="false" rot="0">
              <a:off x="0" y="0"/>
              <a:ext cx="5184065" cy="16732"/>
            </a:xfrm>
            <a:custGeom>
              <a:avLst/>
              <a:gdLst/>
              <a:ahLst/>
              <a:cxnLst/>
              <a:rect r="r" b="b" t="t" l="l"/>
              <a:pathLst>
                <a:path h="16732" w="5184065">
                  <a:moveTo>
                    <a:pt x="0" y="0"/>
                  </a:moveTo>
                  <a:lnTo>
                    <a:pt x="5184065" y="0"/>
                  </a:lnTo>
                  <a:lnTo>
                    <a:pt x="5184065" y="16732"/>
                  </a:lnTo>
                  <a:lnTo>
                    <a:pt x="0" y="16732"/>
                  </a:lnTo>
                  <a:close/>
                </a:path>
              </a:pathLst>
            </a:custGeom>
            <a:solidFill>
              <a:srgbClr val="1CC9F1"/>
            </a:solidFill>
          </p:spPr>
        </p:sp>
        <p:sp>
          <p:nvSpPr>
            <p:cNvPr name="TextBox 13" id="13"/>
            <p:cNvSpPr txBox="true"/>
            <p:nvPr/>
          </p:nvSpPr>
          <p:spPr>
            <a:xfrm>
              <a:off x="0" y="28575"/>
              <a:ext cx="5184064" cy="16732"/>
            </a:xfrm>
            <a:prstGeom prst="rect">
              <a:avLst/>
            </a:prstGeom>
          </p:spPr>
          <p:txBody>
            <a:bodyPr anchor="ctr" rtlCol="false" tIns="50800" lIns="50800" bIns="50800" rIns="50800"/>
            <a:lstStyle/>
            <a:p>
              <a:pPr algn="ctr">
                <a:lnSpc>
                  <a:spcPts val="1782"/>
                </a:lnSpc>
              </a:pPr>
            </a:p>
          </p:txBody>
        </p:sp>
      </p:grpSp>
      <p:sp>
        <p:nvSpPr>
          <p:cNvPr name="Freeform 14" id="14"/>
          <p:cNvSpPr/>
          <p:nvPr/>
        </p:nvSpPr>
        <p:spPr>
          <a:xfrm flipH="false" flipV="true" rot="-10800000">
            <a:off x="15618658" y="8561732"/>
            <a:ext cx="603197" cy="468300"/>
          </a:xfrm>
          <a:custGeom>
            <a:avLst/>
            <a:gdLst/>
            <a:ahLst/>
            <a:cxnLst/>
            <a:rect r="r" b="b" t="t" l="l"/>
            <a:pathLst>
              <a:path h="468300" w="603197">
                <a:moveTo>
                  <a:pt x="0" y="468300"/>
                </a:moveTo>
                <a:lnTo>
                  <a:pt x="603197" y="468300"/>
                </a:lnTo>
                <a:lnTo>
                  <a:pt x="603197" y="0"/>
                </a:lnTo>
                <a:lnTo>
                  <a:pt x="0" y="0"/>
                </a:lnTo>
                <a:lnTo>
                  <a:pt x="0" y="46830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108705" y="0"/>
            <a:ext cx="18396705" cy="10258705"/>
          </a:xfrm>
          <a:custGeom>
            <a:avLst/>
            <a:gdLst/>
            <a:ahLst/>
            <a:cxnLst/>
            <a:rect r="r" b="b" t="t" l="l"/>
            <a:pathLst>
              <a:path h="10258705" w="18396705">
                <a:moveTo>
                  <a:pt x="0" y="0"/>
                </a:moveTo>
                <a:lnTo>
                  <a:pt x="18396705" y="0"/>
                </a:lnTo>
                <a:lnTo>
                  <a:pt x="18396705" y="10258705"/>
                </a:lnTo>
                <a:lnTo>
                  <a:pt x="0" y="10258705"/>
                </a:lnTo>
                <a:lnTo>
                  <a:pt x="0" y="0"/>
                </a:lnTo>
                <a:close/>
              </a:path>
            </a:pathLst>
          </a:custGeom>
          <a:blipFill>
            <a:blip r:embed="rId2"/>
            <a:stretch>
              <a:fillRect l="0" t="-9626" r="0" b="-9626"/>
            </a:stretch>
          </a:blipFill>
        </p:spPr>
      </p:sp>
      <p:grpSp>
        <p:nvGrpSpPr>
          <p:cNvPr name="Group 3" id="3"/>
          <p:cNvGrpSpPr>
            <a:grpSpLocks noChangeAspect="true"/>
          </p:cNvGrpSpPr>
          <p:nvPr/>
        </p:nvGrpSpPr>
        <p:grpSpPr>
          <a:xfrm rot="0">
            <a:off x="1969518" y="2022298"/>
            <a:ext cx="14348965" cy="7871573"/>
            <a:chOff x="0" y="0"/>
            <a:chExt cx="5908040" cy="3241040"/>
          </a:xfrm>
        </p:grpSpPr>
        <p:sp>
          <p:nvSpPr>
            <p:cNvPr name="Freeform 4" id="4"/>
            <p:cNvSpPr/>
            <p:nvPr/>
          </p:nvSpPr>
          <p:spPr>
            <a:xfrm flipH="false" flipV="false" rot="0">
              <a:off x="6350" y="6350"/>
              <a:ext cx="5895340" cy="180340"/>
            </a:xfrm>
            <a:custGeom>
              <a:avLst/>
              <a:gdLst/>
              <a:ahLst/>
              <a:cxnLst/>
              <a:rect r="r" b="b" t="t" l="l"/>
              <a:pathLst>
                <a:path h="180340" w="5895340">
                  <a:moveTo>
                    <a:pt x="0" y="0"/>
                  </a:moveTo>
                  <a:lnTo>
                    <a:pt x="5895340" y="0"/>
                  </a:lnTo>
                  <a:lnTo>
                    <a:pt x="5895340" y="180340"/>
                  </a:lnTo>
                  <a:lnTo>
                    <a:pt x="0" y="180340"/>
                  </a:lnTo>
                  <a:lnTo>
                    <a:pt x="0" y="0"/>
                  </a:lnTo>
                  <a:close/>
                </a:path>
              </a:pathLst>
            </a:custGeom>
            <a:solidFill>
              <a:srgbClr val="1A4674"/>
            </a:solidFill>
          </p:spPr>
        </p:sp>
        <p:sp>
          <p:nvSpPr>
            <p:cNvPr name="Freeform 5" id="5"/>
            <p:cNvSpPr/>
            <p:nvPr/>
          </p:nvSpPr>
          <p:spPr>
            <a:xfrm flipH="false" flipV="false" rot="0">
              <a:off x="6350" y="193040"/>
              <a:ext cx="5895340" cy="3041650"/>
            </a:xfrm>
            <a:custGeom>
              <a:avLst/>
              <a:gdLst/>
              <a:ahLst/>
              <a:cxnLst/>
              <a:rect r="r" b="b" t="t" l="l"/>
              <a:pathLst>
                <a:path h="3041650" w="5895340">
                  <a:moveTo>
                    <a:pt x="5895340" y="3041650"/>
                  </a:moveTo>
                  <a:lnTo>
                    <a:pt x="0" y="3041650"/>
                  </a:lnTo>
                  <a:lnTo>
                    <a:pt x="0" y="0"/>
                  </a:lnTo>
                  <a:lnTo>
                    <a:pt x="5895340" y="0"/>
                  </a:lnTo>
                  <a:lnTo>
                    <a:pt x="5895340" y="3041650"/>
                  </a:lnTo>
                  <a:close/>
                </a:path>
              </a:pathLst>
            </a:custGeom>
            <a:blipFill>
              <a:blip r:embed="rId3"/>
              <a:stretch>
                <a:fillRect l="0" t="-3925" r="0" b="-3925"/>
              </a:stretch>
            </a:blipFill>
          </p:spPr>
        </p:sp>
        <p:sp>
          <p:nvSpPr>
            <p:cNvPr name="Freeform 6" id="6"/>
            <p:cNvSpPr/>
            <p:nvPr/>
          </p:nvSpPr>
          <p:spPr>
            <a:xfrm flipH="false" flipV="false" rot="0">
              <a:off x="0" y="0"/>
              <a:ext cx="5908040" cy="3241040"/>
            </a:xfrm>
            <a:custGeom>
              <a:avLst/>
              <a:gdLst/>
              <a:ahLst/>
              <a:cxnLst/>
              <a:rect r="r" b="b" t="t" l="l"/>
              <a:pathLst>
                <a:path h="3241040" w="5908040">
                  <a:moveTo>
                    <a:pt x="5908040" y="3241040"/>
                  </a:moveTo>
                  <a:lnTo>
                    <a:pt x="0" y="3241040"/>
                  </a:lnTo>
                  <a:lnTo>
                    <a:pt x="0" y="0"/>
                  </a:lnTo>
                  <a:lnTo>
                    <a:pt x="5908040" y="0"/>
                  </a:lnTo>
                  <a:lnTo>
                    <a:pt x="5908040" y="3241040"/>
                  </a:lnTo>
                  <a:close/>
                  <a:moveTo>
                    <a:pt x="12700" y="3228340"/>
                  </a:moveTo>
                  <a:lnTo>
                    <a:pt x="5895340" y="3228340"/>
                  </a:lnTo>
                  <a:lnTo>
                    <a:pt x="5895340" y="12700"/>
                  </a:lnTo>
                  <a:lnTo>
                    <a:pt x="12700" y="12700"/>
                  </a:lnTo>
                  <a:lnTo>
                    <a:pt x="12700" y="3228340"/>
                  </a:lnTo>
                  <a:close/>
                  <a:moveTo>
                    <a:pt x="5895340" y="186690"/>
                  </a:moveTo>
                  <a:lnTo>
                    <a:pt x="12700" y="186690"/>
                  </a:lnTo>
                  <a:lnTo>
                    <a:pt x="12700" y="199390"/>
                  </a:lnTo>
                  <a:lnTo>
                    <a:pt x="5895340" y="199390"/>
                  </a:lnTo>
                  <a:lnTo>
                    <a:pt x="5895340" y="186690"/>
                  </a:lnTo>
                  <a:close/>
                </a:path>
              </a:pathLst>
            </a:custGeom>
            <a:solidFill>
              <a:srgbClr val="000000"/>
            </a:solidFill>
          </p:spPr>
        </p:sp>
        <p:sp>
          <p:nvSpPr>
            <p:cNvPr name="Freeform 7" id="7"/>
            <p:cNvSpPr/>
            <p:nvPr/>
          </p:nvSpPr>
          <p:spPr>
            <a:xfrm flipH="false" flipV="false" rot="0">
              <a:off x="149860" y="73660"/>
              <a:ext cx="299720" cy="63500"/>
            </a:xfrm>
            <a:custGeom>
              <a:avLst/>
              <a:gdLst/>
              <a:ahLst/>
              <a:cxnLst/>
              <a:rect r="r" b="b" t="t" l="l"/>
              <a:pathLst>
                <a:path h="63500" w="299720">
                  <a:moveTo>
                    <a:pt x="118110" y="0"/>
                  </a:moveTo>
                  <a:lnTo>
                    <a:pt x="181610" y="0"/>
                  </a:lnTo>
                  <a:lnTo>
                    <a:pt x="181610" y="63500"/>
                  </a:lnTo>
                  <a:lnTo>
                    <a:pt x="118110" y="63500"/>
                  </a:lnTo>
                  <a:lnTo>
                    <a:pt x="118110" y="0"/>
                  </a:lnTo>
                  <a:close/>
                  <a:moveTo>
                    <a:pt x="31750" y="0"/>
                  </a:moveTo>
                  <a:cubicBezTo>
                    <a:pt x="49530" y="0"/>
                    <a:pt x="63500" y="13970"/>
                    <a:pt x="63500" y="31750"/>
                  </a:cubicBezTo>
                  <a:cubicBezTo>
                    <a:pt x="63500" y="49530"/>
                    <a:pt x="49530" y="63500"/>
                    <a:pt x="31750" y="63500"/>
                  </a:cubicBezTo>
                  <a:cubicBezTo>
                    <a:pt x="13970" y="63500"/>
                    <a:pt x="0" y="49530"/>
                    <a:pt x="0" y="31750"/>
                  </a:cubicBezTo>
                  <a:cubicBezTo>
                    <a:pt x="0" y="13970"/>
                    <a:pt x="13970" y="0"/>
                    <a:pt x="31750" y="0"/>
                  </a:cubicBezTo>
                  <a:close/>
                  <a:moveTo>
                    <a:pt x="267970" y="0"/>
                  </a:moveTo>
                  <a:lnTo>
                    <a:pt x="236220" y="63500"/>
                  </a:lnTo>
                  <a:lnTo>
                    <a:pt x="299720" y="63500"/>
                  </a:lnTo>
                  <a:lnTo>
                    <a:pt x="267970" y="0"/>
                  </a:lnTo>
                  <a:close/>
                </a:path>
              </a:pathLst>
            </a:custGeom>
            <a:solidFill>
              <a:srgbClr val="484FA2"/>
            </a:solidFill>
          </p:spPr>
        </p:sp>
        <p:sp>
          <p:nvSpPr>
            <p:cNvPr name="Freeform 8" id="8"/>
            <p:cNvSpPr/>
            <p:nvPr/>
          </p:nvSpPr>
          <p:spPr>
            <a:xfrm flipH="false" flipV="false" rot="0">
              <a:off x="591820" y="88900"/>
              <a:ext cx="5175250" cy="33020"/>
            </a:xfrm>
            <a:custGeom>
              <a:avLst/>
              <a:gdLst/>
              <a:ahLst/>
              <a:cxnLst/>
              <a:rect r="r" b="b" t="t" l="l"/>
              <a:pathLst>
                <a:path h="33020" w="5175250">
                  <a:moveTo>
                    <a:pt x="5158740" y="33020"/>
                  </a:moveTo>
                  <a:lnTo>
                    <a:pt x="16510" y="33020"/>
                  </a:lnTo>
                  <a:cubicBezTo>
                    <a:pt x="7620" y="33020"/>
                    <a:pt x="0" y="25400"/>
                    <a:pt x="0" y="16510"/>
                  </a:cubicBezTo>
                  <a:lnTo>
                    <a:pt x="0" y="16510"/>
                  </a:lnTo>
                  <a:cubicBezTo>
                    <a:pt x="0" y="7620"/>
                    <a:pt x="7620" y="0"/>
                    <a:pt x="16510" y="0"/>
                  </a:cubicBezTo>
                  <a:lnTo>
                    <a:pt x="5158740" y="0"/>
                  </a:lnTo>
                  <a:cubicBezTo>
                    <a:pt x="5167630" y="0"/>
                    <a:pt x="5175250" y="7620"/>
                    <a:pt x="5175250" y="16510"/>
                  </a:cubicBezTo>
                  <a:lnTo>
                    <a:pt x="5175250" y="16510"/>
                  </a:lnTo>
                  <a:cubicBezTo>
                    <a:pt x="5173980" y="25400"/>
                    <a:pt x="5167630" y="33020"/>
                    <a:pt x="5158740" y="33020"/>
                  </a:cubicBezTo>
                  <a:close/>
                </a:path>
              </a:pathLst>
            </a:custGeom>
            <a:solidFill>
              <a:srgbClr val="F26D6F"/>
            </a:solidFill>
          </p:spPr>
        </p:sp>
      </p:grpSp>
      <p:sp>
        <p:nvSpPr>
          <p:cNvPr name="TextBox 9" id="9"/>
          <p:cNvSpPr txBox="true"/>
          <p:nvPr/>
        </p:nvSpPr>
        <p:spPr>
          <a:xfrm rot="0">
            <a:off x="3289762" y="878647"/>
            <a:ext cx="11708476" cy="1143651"/>
          </a:xfrm>
          <a:prstGeom prst="rect">
            <a:avLst/>
          </a:prstGeom>
        </p:spPr>
        <p:txBody>
          <a:bodyPr anchor="t" rtlCol="false" tIns="0" lIns="0" bIns="0" rIns="0">
            <a:spAutoFit/>
          </a:bodyPr>
          <a:lstStyle/>
          <a:p>
            <a:pPr algn="l">
              <a:lnSpc>
                <a:spcPts val="7295"/>
              </a:lnSpc>
            </a:pPr>
            <a:r>
              <a:rPr lang="en-US" sz="11766" spc="-258">
                <a:solidFill>
                  <a:srgbClr val="1CC9F1"/>
                </a:solidFill>
                <a:latin typeface="Inndam"/>
                <a:ea typeface="Inndam"/>
                <a:cs typeface="Inndam"/>
                <a:sym typeface="Inndam"/>
              </a:rPr>
              <a:t>LUỒNG XỬ LÝ</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9958573" y="7005887"/>
            <a:ext cx="6206878" cy="1352644"/>
            <a:chOff x="0" y="0"/>
            <a:chExt cx="1515189" cy="330200"/>
          </a:xfrm>
        </p:grpSpPr>
        <p:sp>
          <p:nvSpPr>
            <p:cNvPr name="Freeform 7" id="7"/>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9" id="9"/>
          <p:cNvGrpSpPr/>
          <p:nvPr/>
        </p:nvGrpSpPr>
        <p:grpSpPr>
          <a:xfrm rot="0">
            <a:off x="8473305" y="6985532"/>
            <a:ext cx="1856152" cy="1352644"/>
            <a:chOff x="0" y="0"/>
            <a:chExt cx="453114" cy="330200"/>
          </a:xfrm>
        </p:grpSpPr>
        <p:sp>
          <p:nvSpPr>
            <p:cNvPr name="Freeform 10" id="10"/>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10451714" y="3210359"/>
            <a:ext cx="6206878" cy="1352644"/>
            <a:chOff x="0" y="0"/>
            <a:chExt cx="1515189" cy="330200"/>
          </a:xfrm>
        </p:grpSpPr>
        <p:sp>
          <p:nvSpPr>
            <p:cNvPr name="Freeform 13" id="13">
              <a:hlinkClick r:id="rId3"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14" id="14"/>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5170FF"/>
                  </a:solidFill>
                  <a:latin typeface="Inndam"/>
                  <a:ea typeface="Inndam"/>
                  <a:cs typeface="Inndam"/>
                  <a:sym typeface="Inndam"/>
                  <a:hlinkClick r:id="rId3" action="ppaction://hlinksldjump"/>
                </a:rPr>
                <a:t>TỔNG QUAN GIẢI PHÁP</a:t>
              </a:r>
            </a:p>
          </p:txBody>
        </p:sp>
      </p:grpSp>
      <p:grpSp>
        <p:nvGrpSpPr>
          <p:cNvPr name="Group 15" id="15"/>
          <p:cNvGrpSpPr/>
          <p:nvPr/>
        </p:nvGrpSpPr>
        <p:grpSpPr>
          <a:xfrm rot="0">
            <a:off x="9144000" y="3210359"/>
            <a:ext cx="1856152" cy="1352644"/>
            <a:chOff x="0" y="0"/>
            <a:chExt cx="453114" cy="330200"/>
          </a:xfrm>
        </p:grpSpPr>
        <p:sp>
          <p:nvSpPr>
            <p:cNvPr name="Freeform 16" id="16">
              <a:hlinkClick r:id="rId3"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7" id="17"/>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8" id="18"/>
          <p:cNvGrpSpPr/>
          <p:nvPr/>
        </p:nvGrpSpPr>
        <p:grpSpPr>
          <a:xfrm rot="0">
            <a:off x="1950529" y="5318251"/>
            <a:ext cx="6206878" cy="1352644"/>
            <a:chOff x="0" y="0"/>
            <a:chExt cx="1515189" cy="330200"/>
          </a:xfrm>
        </p:grpSpPr>
        <p:sp>
          <p:nvSpPr>
            <p:cNvPr name="Freeform 19" id="19">
              <a:hlinkClick r:id="rId4"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20" id="20"/>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38B6FF"/>
                  </a:solidFill>
                  <a:latin typeface="Inndam"/>
                  <a:ea typeface="Inndam"/>
                  <a:cs typeface="Inndam"/>
                  <a:sym typeface="Inndam"/>
                  <a:hlinkClick r:id="rId4" action="ppaction://hlinksldjump"/>
                </a:rPr>
                <a:t>KIẾN THỨC &amp; THUẬT TOÁN</a:t>
              </a:r>
            </a:p>
          </p:txBody>
        </p:sp>
      </p:grpSp>
      <p:grpSp>
        <p:nvGrpSpPr>
          <p:cNvPr name="Group 21" id="21"/>
          <p:cNvGrpSpPr/>
          <p:nvPr/>
        </p:nvGrpSpPr>
        <p:grpSpPr>
          <a:xfrm rot="0">
            <a:off x="651192" y="5318251"/>
            <a:ext cx="1856152" cy="1352644"/>
            <a:chOff x="0" y="0"/>
            <a:chExt cx="453114" cy="330200"/>
          </a:xfrm>
        </p:grpSpPr>
        <p:sp>
          <p:nvSpPr>
            <p:cNvPr name="Freeform 22" id="22">
              <a:hlinkClick r:id="rId4"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23" id="23"/>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24" id="24"/>
          <p:cNvGrpSpPr/>
          <p:nvPr/>
        </p:nvGrpSpPr>
        <p:grpSpPr>
          <a:xfrm rot="0">
            <a:off x="9514454" y="3027767"/>
            <a:ext cx="1115245" cy="1717827"/>
            <a:chOff x="0" y="0"/>
            <a:chExt cx="3548634" cy="5466010"/>
          </a:xfrm>
        </p:grpSpPr>
        <p:sp>
          <p:nvSpPr>
            <p:cNvPr name="Freeform 25" id="25">
              <a:hlinkClick r:id="rId3" action="ppaction://hlinksldjump"/>
            </p:cNvPr>
            <p:cNvSpPr/>
            <p:nvPr/>
          </p:nvSpPr>
          <p:spPr>
            <a:xfrm flipH="false" flipV="false" rot="0">
              <a:off x="-43" y="311"/>
              <a:ext cx="3548678" cy="5465700"/>
            </a:xfrm>
            <a:custGeom>
              <a:avLst/>
              <a:gdLst/>
              <a:ahLst/>
              <a:cxnLst/>
              <a:rect r="r" b="b" t="t" l="l"/>
              <a:pathLst>
                <a:path h="5465700" w="3548678">
                  <a:moveTo>
                    <a:pt x="3548677" y="4016517"/>
                  </a:moveTo>
                  <a:lnTo>
                    <a:pt x="3355764" y="5465699"/>
                  </a:lnTo>
                  <a:lnTo>
                    <a:pt x="77132" y="5465699"/>
                  </a:lnTo>
                  <a:cubicBezTo>
                    <a:pt x="22014" y="5465699"/>
                    <a:pt x="1313" y="5418245"/>
                    <a:pt x="42715" y="5370644"/>
                  </a:cubicBezTo>
                  <a:cubicBezTo>
                    <a:pt x="1688889" y="3200886"/>
                    <a:pt x="2432855" y="2408910"/>
                    <a:pt x="2432855" y="1458655"/>
                  </a:cubicBezTo>
                  <a:cubicBezTo>
                    <a:pt x="2432855" y="682593"/>
                    <a:pt x="1840527" y="175781"/>
                    <a:pt x="1199939" y="318290"/>
                  </a:cubicBezTo>
                  <a:cubicBezTo>
                    <a:pt x="697146" y="429114"/>
                    <a:pt x="504233" y="896357"/>
                    <a:pt x="235628" y="1624964"/>
                  </a:cubicBezTo>
                  <a:cubicBezTo>
                    <a:pt x="208069" y="1704103"/>
                    <a:pt x="152951" y="1688334"/>
                    <a:pt x="146093" y="1617079"/>
                  </a:cubicBezTo>
                  <a:cubicBezTo>
                    <a:pt x="132250" y="1276430"/>
                    <a:pt x="104691" y="928042"/>
                    <a:pt x="1313" y="587539"/>
                  </a:cubicBezTo>
                  <a:cubicBezTo>
                    <a:pt x="-5545" y="547969"/>
                    <a:pt x="15029" y="508400"/>
                    <a:pt x="49573" y="484599"/>
                  </a:cubicBezTo>
                  <a:cubicBezTo>
                    <a:pt x="641901" y="151981"/>
                    <a:pt x="1206797" y="1441"/>
                    <a:pt x="1571795" y="1441"/>
                  </a:cubicBezTo>
                  <a:cubicBezTo>
                    <a:pt x="2143549" y="-12503"/>
                    <a:pt x="2742735" y="64811"/>
                    <a:pt x="3094017" y="674563"/>
                  </a:cubicBezTo>
                  <a:cubicBezTo>
                    <a:pt x="3417740" y="1228975"/>
                    <a:pt x="3300646" y="2131630"/>
                    <a:pt x="2756451" y="2781098"/>
                  </a:cubicBezTo>
                  <a:cubicBezTo>
                    <a:pt x="2281217" y="3351280"/>
                    <a:pt x="1730164" y="3968916"/>
                    <a:pt x="1227371" y="4515444"/>
                  </a:cubicBezTo>
                  <a:lnTo>
                    <a:pt x="2770294" y="4515444"/>
                  </a:lnTo>
                  <a:cubicBezTo>
                    <a:pt x="3087159" y="4515444"/>
                    <a:pt x="3355764" y="4436159"/>
                    <a:pt x="3548677" y="4016517"/>
                  </a:cubicBezTo>
                  <a:close/>
                </a:path>
              </a:pathLst>
            </a:custGeom>
            <a:blipFill>
              <a:blip r:embed="rId5"/>
              <a:stretch>
                <a:fillRect l="-58944" t="0" r="-58944"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26" id="26"/>
          <p:cNvGrpSpPr/>
          <p:nvPr/>
        </p:nvGrpSpPr>
        <p:grpSpPr>
          <a:xfrm rot="0">
            <a:off x="949795" y="5132249"/>
            <a:ext cx="1258946" cy="1724649"/>
            <a:chOff x="0" y="0"/>
            <a:chExt cx="4018280" cy="5504700"/>
          </a:xfrm>
        </p:grpSpPr>
        <p:sp>
          <p:nvSpPr>
            <p:cNvPr name="Freeform 27" id="27">
              <a:hlinkClick r:id="rId4" action="ppaction://hlinksldjump"/>
            </p:cNvPr>
            <p:cNvSpPr/>
            <p:nvPr/>
          </p:nvSpPr>
          <p:spPr>
            <a:xfrm flipH="false" flipV="false" rot="0">
              <a:off x="0" y="0"/>
              <a:ext cx="4018280" cy="5504700"/>
            </a:xfrm>
            <a:custGeom>
              <a:avLst/>
              <a:gdLst/>
              <a:ahLst/>
              <a:cxnLst/>
              <a:rect r="r" b="b" t="t" l="l"/>
              <a:pathLst>
                <a:path h="5504700" w="4018280">
                  <a:moveTo>
                    <a:pt x="563880" y="331810"/>
                  </a:moveTo>
                  <a:cubicBezTo>
                    <a:pt x="877570" y="111001"/>
                    <a:pt x="1342390" y="0"/>
                    <a:pt x="1958340" y="0"/>
                  </a:cubicBezTo>
                  <a:cubicBezTo>
                    <a:pt x="3149600" y="0"/>
                    <a:pt x="3743960" y="404617"/>
                    <a:pt x="3743960" y="1213851"/>
                  </a:cubicBezTo>
                  <a:cubicBezTo>
                    <a:pt x="3743960" y="1544467"/>
                    <a:pt x="3604260" y="1817792"/>
                    <a:pt x="3324860" y="2035020"/>
                  </a:cubicBezTo>
                  <a:cubicBezTo>
                    <a:pt x="3045460" y="2251055"/>
                    <a:pt x="2644140" y="2402637"/>
                    <a:pt x="2122170" y="2489767"/>
                  </a:cubicBezTo>
                  <a:lnTo>
                    <a:pt x="2122170" y="2505283"/>
                  </a:lnTo>
                  <a:cubicBezTo>
                    <a:pt x="2769870" y="2550638"/>
                    <a:pt x="3247390" y="2698640"/>
                    <a:pt x="3556000" y="2948094"/>
                  </a:cubicBezTo>
                  <a:cubicBezTo>
                    <a:pt x="3864610" y="3197548"/>
                    <a:pt x="4018280" y="3521003"/>
                    <a:pt x="4018280" y="3917264"/>
                  </a:cubicBezTo>
                  <a:cubicBezTo>
                    <a:pt x="4018280" y="4405431"/>
                    <a:pt x="3816350" y="4793338"/>
                    <a:pt x="3411220" y="5077405"/>
                  </a:cubicBezTo>
                  <a:cubicBezTo>
                    <a:pt x="3006090" y="5362666"/>
                    <a:pt x="2443480" y="5504700"/>
                    <a:pt x="1723390" y="5504700"/>
                  </a:cubicBezTo>
                  <a:cubicBezTo>
                    <a:pt x="1441450" y="5504700"/>
                    <a:pt x="1178560" y="5473667"/>
                    <a:pt x="935990" y="5412796"/>
                  </a:cubicBezTo>
                  <a:cubicBezTo>
                    <a:pt x="693420" y="5351924"/>
                    <a:pt x="476250" y="5231374"/>
                    <a:pt x="285750" y="5049953"/>
                  </a:cubicBezTo>
                  <a:cubicBezTo>
                    <a:pt x="95250" y="4869726"/>
                    <a:pt x="0" y="4654885"/>
                    <a:pt x="0" y="4405431"/>
                  </a:cubicBezTo>
                  <a:cubicBezTo>
                    <a:pt x="0" y="4155977"/>
                    <a:pt x="60960" y="3962620"/>
                    <a:pt x="184150" y="3825361"/>
                  </a:cubicBezTo>
                  <a:cubicBezTo>
                    <a:pt x="307340" y="3688101"/>
                    <a:pt x="474980" y="3618875"/>
                    <a:pt x="689610" y="3618875"/>
                  </a:cubicBezTo>
                  <a:cubicBezTo>
                    <a:pt x="904240" y="3618875"/>
                    <a:pt x="1073150" y="3673778"/>
                    <a:pt x="1198880" y="3783586"/>
                  </a:cubicBezTo>
                  <a:cubicBezTo>
                    <a:pt x="1324610" y="3893394"/>
                    <a:pt x="1386840" y="4023492"/>
                    <a:pt x="1386840" y="4172687"/>
                  </a:cubicBezTo>
                  <a:cubicBezTo>
                    <a:pt x="1386840" y="4323075"/>
                    <a:pt x="1366520" y="4450786"/>
                    <a:pt x="1324610" y="4558206"/>
                  </a:cubicBezTo>
                  <a:lnTo>
                    <a:pt x="1080770" y="4558206"/>
                  </a:lnTo>
                  <a:cubicBezTo>
                    <a:pt x="1049020" y="4639369"/>
                    <a:pt x="1033780" y="4724112"/>
                    <a:pt x="1033780" y="4810048"/>
                  </a:cubicBezTo>
                  <a:cubicBezTo>
                    <a:pt x="1033780" y="5171697"/>
                    <a:pt x="1253490" y="5351924"/>
                    <a:pt x="1691640" y="5351924"/>
                  </a:cubicBezTo>
                  <a:cubicBezTo>
                    <a:pt x="2000250" y="5351924"/>
                    <a:pt x="2209800" y="5237342"/>
                    <a:pt x="2322830" y="5008179"/>
                  </a:cubicBezTo>
                  <a:cubicBezTo>
                    <a:pt x="2434590" y="4779015"/>
                    <a:pt x="2491740" y="4448399"/>
                    <a:pt x="2491740" y="4015137"/>
                  </a:cubicBezTo>
                  <a:cubicBezTo>
                    <a:pt x="2491740" y="3583068"/>
                    <a:pt x="2438400" y="3267968"/>
                    <a:pt x="2331720" y="3072224"/>
                  </a:cubicBezTo>
                  <a:cubicBezTo>
                    <a:pt x="2225040" y="2876480"/>
                    <a:pt x="2066290" y="2727285"/>
                    <a:pt x="1858010" y="2625833"/>
                  </a:cubicBezTo>
                  <a:cubicBezTo>
                    <a:pt x="1670050" y="2666414"/>
                    <a:pt x="1442720" y="2699833"/>
                    <a:pt x="1176020" y="2724898"/>
                  </a:cubicBezTo>
                  <a:lnTo>
                    <a:pt x="1151890" y="2556606"/>
                  </a:lnTo>
                  <a:cubicBezTo>
                    <a:pt x="1611630" y="2511251"/>
                    <a:pt x="1912620" y="2403830"/>
                    <a:pt x="2056130" y="2235539"/>
                  </a:cubicBezTo>
                  <a:cubicBezTo>
                    <a:pt x="2199640" y="2067246"/>
                    <a:pt x="2272030" y="1768856"/>
                    <a:pt x="2272030" y="1337981"/>
                  </a:cubicBezTo>
                  <a:cubicBezTo>
                    <a:pt x="2272030" y="908300"/>
                    <a:pt x="2228850" y="600361"/>
                    <a:pt x="2142490" y="414166"/>
                  </a:cubicBezTo>
                  <a:cubicBezTo>
                    <a:pt x="2056130" y="227970"/>
                    <a:pt x="1911350" y="136066"/>
                    <a:pt x="1708150" y="136066"/>
                  </a:cubicBezTo>
                  <a:cubicBezTo>
                    <a:pt x="1504950" y="136066"/>
                    <a:pt x="1360170" y="195744"/>
                    <a:pt x="1273810" y="315100"/>
                  </a:cubicBezTo>
                  <a:cubicBezTo>
                    <a:pt x="1186180" y="436843"/>
                    <a:pt x="1143000" y="550231"/>
                    <a:pt x="1143000" y="656458"/>
                  </a:cubicBezTo>
                  <a:cubicBezTo>
                    <a:pt x="1143000" y="762685"/>
                    <a:pt x="1158240" y="858170"/>
                    <a:pt x="1189990" y="939332"/>
                  </a:cubicBezTo>
                  <a:lnTo>
                    <a:pt x="1417320" y="939332"/>
                  </a:lnTo>
                  <a:cubicBezTo>
                    <a:pt x="1459230" y="1046752"/>
                    <a:pt x="1479550" y="1174463"/>
                    <a:pt x="1479550" y="1324852"/>
                  </a:cubicBezTo>
                  <a:cubicBezTo>
                    <a:pt x="1479550" y="1475240"/>
                    <a:pt x="1414780" y="1605339"/>
                    <a:pt x="1283970" y="1713953"/>
                  </a:cubicBezTo>
                  <a:cubicBezTo>
                    <a:pt x="1153160" y="1823760"/>
                    <a:pt x="980440" y="1878664"/>
                    <a:pt x="767080" y="1878664"/>
                  </a:cubicBezTo>
                  <a:cubicBezTo>
                    <a:pt x="552450" y="1878664"/>
                    <a:pt x="387350" y="1811824"/>
                    <a:pt x="269240" y="1675759"/>
                  </a:cubicBezTo>
                  <a:cubicBezTo>
                    <a:pt x="152400" y="1540886"/>
                    <a:pt x="93980" y="1371401"/>
                    <a:pt x="93980" y="1168495"/>
                  </a:cubicBezTo>
                  <a:cubicBezTo>
                    <a:pt x="93980" y="831911"/>
                    <a:pt x="250190" y="553812"/>
                    <a:pt x="563880" y="331810"/>
                  </a:cubicBezTo>
                  <a:close/>
                </a:path>
              </a:pathLst>
            </a:custGeom>
            <a:blipFill>
              <a:blip r:embed="rId5"/>
              <a:stretch>
                <a:fillRect l="-46899" t="0" r="-46899"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28" id="28"/>
          <p:cNvGrpSpPr/>
          <p:nvPr/>
        </p:nvGrpSpPr>
        <p:grpSpPr>
          <a:xfrm rot="0">
            <a:off x="8473305" y="6670895"/>
            <a:ext cx="1485268" cy="1687636"/>
            <a:chOff x="0" y="0"/>
            <a:chExt cx="4488180" cy="5099694"/>
          </a:xfrm>
        </p:grpSpPr>
        <p:sp>
          <p:nvSpPr>
            <p:cNvPr name="Freeform 29" id="29"/>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5"/>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30" id="30"/>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1" id="31"/>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9958573" y="7005887"/>
            <a:ext cx="6206878" cy="1352644"/>
            <a:chOff x="0" y="0"/>
            <a:chExt cx="1515189" cy="330200"/>
          </a:xfrm>
        </p:grpSpPr>
        <p:sp>
          <p:nvSpPr>
            <p:cNvPr name="Freeform 7" id="7"/>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9" id="9"/>
          <p:cNvGrpSpPr/>
          <p:nvPr/>
        </p:nvGrpSpPr>
        <p:grpSpPr>
          <a:xfrm rot="0">
            <a:off x="8473305" y="6985532"/>
            <a:ext cx="1856152" cy="1352644"/>
            <a:chOff x="0" y="0"/>
            <a:chExt cx="453114" cy="330200"/>
          </a:xfrm>
        </p:grpSpPr>
        <p:sp>
          <p:nvSpPr>
            <p:cNvPr name="Freeform 10" id="10"/>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1950529" y="5318251"/>
            <a:ext cx="6206878" cy="1352644"/>
            <a:chOff x="0" y="0"/>
            <a:chExt cx="1515189" cy="330200"/>
          </a:xfrm>
        </p:grpSpPr>
        <p:sp>
          <p:nvSpPr>
            <p:cNvPr name="Freeform 13" id="13">
              <a:hlinkClick r:id="rId3"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14" id="14"/>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38B6FF"/>
                  </a:solidFill>
                  <a:latin typeface="Inndam"/>
                  <a:ea typeface="Inndam"/>
                  <a:cs typeface="Inndam"/>
                  <a:sym typeface="Inndam"/>
                  <a:hlinkClick r:id="rId3" action="ppaction://hlinksldjump"/>
                </a:rPr>
                <a:t>KIẾN THỨC &amp; THUẬT TOÁN</a:t>
              </a:r>
            </a:p>
          </p:txBody>
        </p:sp>
      </p:grpSp>
      <p:grpSp>
        <p:nvGrpSpPr>
          <p:cNvPr name="Group 15" id="15"/>
          <p:cNvGrpSpPr/>
          <p:nvPr/>
        </p:nvGrpSpPr>
        <p:grpSpPr>
          <a:xfrm rot="0">
            <a:off x="651192" y="5318251"/>
            <a:ext cx="1856152" cy="1352644"/>
            <a:chOff x="0" y="0"/>
            <a:chExt cx="453114" cy="330200"/>
          </a:xfrm>
        </p:grpSpPr>
        <p:sp>
          <p:nvSpPr>
            <p:cNvPr name="Freeform 16" id="16">
              <a:hlinkClick r:id="rId3"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7" id="17"/>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8" id="18"/>
          <p:cNvGrpSpPr/>
          <p:nvPr/>
        </p:nvGrpSpPr>
        <p:grpSpPr>
          <a:xfrm rot="0">
            <a:off x="949795" y="5132249"/>
            <a:ext cx="1258946" cy="1724649"/>
            <a:chOff x="0" y="0"/>
            <a:chExt cx="4018280" cy="5504700"/>
          </a:xfrm>
        </p:grpSpPr>
        <p:sp>
          <p:nvSpPr>
            <p:cNvPr name="Freeform 19" id="19">
              <a:hlinkClick r:id="rId3" action="ppaction://hlinksldjump"/>
            </p:cNvPr>
            <p:cNvSpPr/>
            <p:nvPr/>
          </p:nvSpPr>
          <p:spPr>
            <a:xfrm flipH="false" flipV="false" rot="0">
              <a:off x="0" y="0"/>
              <a:ext cx="4018280" cy="5504700"/>
            </a:xfrm>
            <a:custGeom>
              <a:avLst/>
              <a:gdLst/>
              <a:ahLst/>
              <a:cxnLst/>
              <a:rect r="r" b="b" t="t" l="l"/>
              <a:pathLst>
                <a:path h="5504700" w="4018280">
                  <a:moveTo>
                    <a:pt x="563880" y="331810"/>
                  </a:moveTo>
                  <a:cubicBezTo>
                    <a:pt x="877570" y="111001"/>
                    <a:pt x="1342390" y="0"/>
                    <a:pt x="1958340" y="0"/>
                  </a:cubicBezTo>
                  <a:cubicBezTo>
                    <a:pt x="3149600" y="0"/>
                    <a:pt x="3743960" y="404617"/>
                    <a:pt x="3743960" y="1213851"/>
                  </a:cubicBezTo>
                  <a:cubicBezTo>
                    <a:pt x="3743960" y="1544467"/>
                    <a:pt x="3604260" y="1817792"/>
                    <a:pt x="3324860" y="2035020"/>
                  </a:cubicBezTo>
                  <a:cubicBezTo>
                    <a:pt x="3045460" y="2251055"/>
                    <a:pt x="2644140" y="2402637"/>
                    <a:pt x="2122170" y="2489767"/>
                  </a:cubicBezTo>
                  <a:lnTo>
                    <a:pt x="2122170" y="2505283"/>
                  </a:lnTo>
                  <a:cubicBezTo>
                    <a:pt x="2769870" y="2550638"/>
                    <a:pt x="3247390" y="2698640"/>
                    <a:pt x="3556000" y="2948094"/>
                  </a:cubicBezTo>
                  <a:cubicBezTo>
                    <a:pt x="3864610" y="3197548"/>
                    <a:pt x="4018280" y="3521003"/>
                    <a:pt x="4018280" y="3917264"/>
                  </a:cubicBezTo>
                  <a:cubicBezTo>
                    <a:pt x="4018280" y="4405431"/>
                    <a:pt x="3816350" y="4793338"/>
                    <a:pt x="3411220" y="5077405"/>
                  </a:cubicBezTo>
                  <a:cubicBezTo>
                    <a:pt x="3006090" y="5362666"/>
                    <a:pt x="2443480" y="5504700"/>
                    <a:pt x="1723390" y="5504700"/>
                  </a:cubicBezTo>
                  <a:cubicBezTo>
                    <a:pt x="1441450" y="5504700"/>
                    <a:pt x="1178560" y="5473667"/>
                    <a:pt x="935990" y="5412796"/>
                  </a:cubicBezTo>
                  <a:cubicBezTo>
                    <a:pt x="693420" y="5351924"/>
                    <a:pt x="476250" y="5231374"/>
                    <a:pt x="285750" y="5049953"/>
                  </a:cubicBezTo>
                  <a:cubicBezTo>
                    <a:pt x="95250" y="4869726"/>
                    <a:pt x="0" y="4654885"/>
                    <a:pt x="0" y="4405431"/>
                  </a:cubicBezTo>
                  <a:cubicBezTo>
                    <a:pt x="0" y="4155977"/>
                    <a:pt x="60960" y="3962620"/>
                    <a:pt x="184150" y="3825361"/>
                  </a:cubicBezTo>
                  <a:cubicBezTo>
                    <a:pt x="307340" y="3688101"/>
                    <a:pt x="474980" y="3618875"/>
                    <a:pt x="689610" y="3618875"/>
                  </a:cubicBezTo>
                  <a:cubicBezTo>
                    <a:pt x="904240" y="3618875"/>
                    <a:pt x="1073150" y="3673778"/>
                    <a:pt x="1198880" y="3783586"/>
                  </a:cubicBezTo>
                  <a:cubicBezTo>
                    <a:pt x="1324610" y="3893394"/>
                    <a:pt x="1386840" y="4023492"/>
                    <a:pt x="1386840" y="4172687"/>
                  </a:cubicBezTo>
                  <a:cubicBezTo>
                    <a:pt x="1386840" y="4323075"/>
                    <a:pt x="1366520" y="4450786"/>
                    <a:pt x="1324610" y="4558206"/>
                  </a:cubicBezTo>
                  <a:lnTo>
                    <a:pt x="1080770" y="4558206"/>
                  </a:lnTo>
                  <a:cubicBezTo>
                    <a:pt x="1049020" y="4639369"/>
                    <a:pt x="1033780" y="4724112"/>
                    <a:pt x="1033780" y="4810048"/>
                  </a:cubicBezTo>
                  <a:cubicBezTo>
                    <a:pt x="1033780" y="5171697"/>
                    <a:pt x="1253490" y="5351924"/>
                    <a:pt x="1691640" y="5351924"/>
                  </a:cubicBezTo>
                  <a:cubicBezTo>
                    <a:pt x="2000250" y="5351924"/>
                    <a:pt x="2209800" y="5237342"/>
                    <a:pt x="2322830" y="5008179"/>
                  </a:cubicBezTo>
                  <a:cubicBezTo>
                    <a:pt x="2434590" y="4779015"/>
                    <a:pt x="2491740" y="4448399"/>
                    <a:pt x="2491740" y="4015137"/>
                  </a:cubicBezTo>
                  <a:cubicBezTo>
                    <a:pt x="2491740" y="3583068"/>
                    <a:pt x="2438400" y="3267968"/>
                    <a:pt x="2331720" y="3072224"/>
                  </a:cubicBezTo>
                  <a:cubicBezTo>
                    <a:pt x="2225040" y="2876480"/>
                    <a:pt x="2066290" y="2727285"/>
                    <a:pt x="1858010" y="2625833"/>
                  </a:cubicBezTo>
                  <a:cubicBezTo>
                    <a:pt x="1670050" y="2666414"/>
                    <a:pt x="1442720" y="2699833"/>
                    <a:pt x="1176020" y="2724898"/>
                  </a:cubicBezTo>
                  <a:lnTo>
                    <a:pt x="1151890" y="2556606"/>
                  </a:lnTo>
                  <a:cubicBezTo>
                    <a:pt x="1611630" y="2511251"/>
                    <a:pt x="1912620" y="2403830"/>
                    <a:pt x="2056130" y="2235539"/>
                  </a:cubicBezTo>
                  <a:cubicBezTo>
                    <a:pt x="2199640" y="2067246"/>
                    <a:pt x="2272030" y="1768856"/>
                    <a:pt x="2272030" y="1337981"/>
                  </a:cubicBezTo>
                  <a:cubicBezTo>
                    <a:pt x="2272030" y="908300"/>
                    <a:pt x="2228850" y="600361"/>
                    <a:pt x="2142490" y="414166"/>
                  </a:cubicBezTo>
                  <a:cubicBezTo>
                    <a:pt x="2056130" y="227970"/>
                    <a:pt x="1911350" y="136066"/>
                    <a:pt x="1708150" y="136066"/>
                  </a:cubicBezTo>
                  <a:cubicBezTo>
                    <a:pt x="1504950" y="136066"/>
                    <a:pt x="1360170" y="195744"/>
                    <a:pt x="1273810" y="315100"/>
                  </a:cubicBezTo>
                  <a:cubicBezTo>
                    <a:pt x="1186180" y="436843"/>
                    <a:pt x="1143000" y="550231"/>
                    <a:pt x="1143000" y="656458"/>
                  </a:cubicBezTo>
                  <a:cubicBezTo>
                    <a:pt x="1143000" y="762685"/>
                    <a:pt x="1158240" y="858170"/>
                    <a:pt x="1189990" y="939332"/>
                  </a:cubicBezTo>
                  <a:lnTo>
                    <a:pt x="1417320" y="939332"/>
                  </a:lnTo>
                  <a:cubicBezTo>
                    <a:pt x="1459230" y="1046752"/>
                    <a:pt x="1479550" y="1174463"/>
                    <a:pt x="1479550" y="1324852"/>
                  </a:cubicBezTo>
                  <a:cubicBezTo>
                    <a:pt x="1479550" y="1475240"/>
                    <a:pt x="1414780" y="1605339"/>
                    <a:pt x="1283970" y="1713953"/>
                  </a:cubicBezTo>
                  <a:cubicBezTo>
                    <a:pt x="1153160" y="1823760"/>
                    <a:pt x="980440" y="1878664"/>
                    <a:pt x="767080" y="1878664"/>
                  </a:cubicBezTo>
                  <a:cubicBezTo>
                    <a:pt x="552450" y="1878664"/>
                    <a:pt x="387350" y="1811824"/>
                    <a:pt x="269240" y="1675759"/>
                  </a:cubicBezTo>
                  <a:cubicBezTo>
                    <a:pt x="152400" y="1540886"/>
                    <a:pt x="93980" y="1371401"/>
                    <a:pt x="93980" y="1168495"/>
                  </a:cubicBezTo>
                  <a:cubicBezTo>
                    <a:pt x="93980" y="831911"/>
                    <a:pt x="250190" y="553812"/>
                    <a:pt x="563880" y="331810"/>
                  </a:cubicBezTo>
                  <a:close/>
                </a:path>
              </a:pathLst>
            </a:custGeom>
            <a:blipFill>
              <a:blip r:embed="rId4"/>
              <a:stretch>
                <a:fillRect l="-46899" t="0" r="-46899"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20" id="20"/>
          <p:cNvGrpSpPr/>
          <p:nvPr/>
        </p:nvGrpSpPr>
        <p:grpSpPr>
          <a:xfrm rot="0">
            <a:off x="8473305" y="6670895"/>
            <a:ext cx="1485268" cy="1687636"/>
            <a:chOff x="0" y="0"/>
            <a:chExt cx="4488180" cy="5099694"/>
          </a:xfrm>
        </p:grpSpPr>
        <p:sp>
          <p:nvSpPr>
            <p:cNvPr name="Freeform 21" id="21"/>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4"/>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22" id="22"/>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129765" y="3110750"/>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PHÂN TÍCH VIỆC LỰA CHỌN CẤU TRÚC DỮ LIỆU</a:t>
              </a:r>
            </a:p>
          </p:txBody>
        </p:sp>
      </p:grpSp>
      <p:grpSp>
        <p:nvGrpSpPr>
          <p:cNvPr name="Group 6" id="6"/>
          <p:cNvGrpSpPr/>
          <p:nvPr/>
        </p:nvGrpSpPr>
        <p:grpSpPr>
          <a:xfrm rot="0">
            <a:off x="9538359" y="3110750"/>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Đ</a:t>
              </a:r>
              <a:r>
                <a:rPr lang="en-US" sz="1800" spc="279">
                  <a:solidFill>
                    <a:srgbClr val="FFFFFF"/>
                  </a:solidFill>
                  <a:latin typeface="Inndam"/>
                  <a:ea typeface="Inndam"/>
                  <a:cs typeface="Inndam"/>
                  <a:sym typeface="Inndam"/>
                </a:rPr>
                <a:t>ÁNH GIÁ ĐỘ PHỨC TẠP THUẬT TOÁN VÀ KHÔNG GIAN TỔNG THỂ</a:t>
              </a:r>
            </a:p>
          </p:txBody>
        </p:sp>
      </p:grpSp>
      <p:grpSp>
        <p:nvGrpSpPr>
          <p:cNvPr name="Group 9" id="9"/>
          <p:cNvGrpSpPr/>
          <p:nvPr/>
        </p:nvGrpSpPr>
        <p:grpSpPr>
          <a:xfrm rot="0">
            <a:off x="6394885" y="6699836"/>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KỸ THUẬT LẬP TRÌNH CẦN LƯU Ý</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TextBox 15" id="15"/>
          <p:cNvSpPr txBox="true"/>
          <p:nvPr/>
        </p:nvSpPr>
        <p:spPr>
          <a:xfrm rot="0">
            <a:off x="2707056" y="700745"/>
            <a:ext cx="12873888" cy="1537037"/>
          </a:xfrm>
          <a:prstGeom prst="rect">
            <a:avLst/>
          </a:prstGeom>
        </p:spPr>
        <p:txBody>
          <a:bodyPr anchor="t" rtlCol="false" tIns="0" lIns="0" bIns="0" rIns="0">
            <a:spAutoFit/>
          </a:bodyPr>
          <a:lstStyle/>
          <a:p>
            <a:pPr algn="l">
              <a:lnSpc>
                <a:spcPts val="5401"/>
              </a:lnSpc>
            </a:pPr>
            <a:r>
              <a:rPr lang="en-US" sz="8711" spc="-191">
                <a:solidFill>
                  <a:srgbClr val="1CC9F1"/>
                </a:solidFill>
                <a:latin typeface="Inndam"/>
                <a:ea typeface="Inndam"/>
                <a:cs typeface="Inndam"/>
                <a:sym typeface="Inndam"/>
              </a:rPr>
              <a:t>KIẾN THỨC VÀ THUẬT TOÁN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64423"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349978" y="2237782"/>
            <a:ext cx="13660401" cy="47625"/>
            <a:chOff x="0" y="0"/>
            <a:chExt cx="3597801" cy="12543"/>
          </a:xfrm>
        </p:grpSpPr>
        <p:sp>
          <p:nvSpPr>
            <p:cNvPr name="Freeform 4" id="4"/>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5" id="5"/>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2349978" y="3107057"/>
            <a:ext cx="13660401" cy="6046960"/>
          </a:xfrm>
          <a:custGeom>
            <a:avLst/>
            <a:gdLst/>
            <a:ahLst/>
            <a:cxnLst/>
            <a:rect r="r" b="b" t="t" l="l"/>
            <a:pathLst>
              <a:path h="6046960" w="13660401">
                <a:moveTo>
                  <a:pt x="0" y="0"/>
                </a:moveTo>
                <a:lnTo>
                  <a:pt x="13660401" y="0"/>
                </a:lnTo>
                <a:lnTo>
                  <a:pt x="13660401" y="6046959"/>
                </a:lnTo>
                <a:lnTo>
                  <a:pt x="0" y="6046959"/>
                </a:lnTo>
                <a:lnTo>
                  <a:pt x="0" y="0"/>
                </a:lnTo>
                <a:close/>
              </a:path>
            </a:pathLst>
          </a:custGeom>
          <a:blipFill>
            <a:blip r:embed="rId3"/>
            <a:stretch>
              <a:fillRect l="-745" t="0" r="-49298" b="0"/>
            </a:stretch>
          </a:blipFill>
        </p:spPr>
      </p:sp>
      <p:sp>
        <p:nvSpPr>
          <p:cNvPr name="TextBox 7" id="7"/>
          <p:cNvSpPr txBox="true"/>
          <p:nvPr/>
        </p:nvSpPr>
        <p:spPr>
          <a:xfrm rot="0">
            <a:off x="2707056" y="281645"/>
            <a:ext cx="12873888" cy="1672590"/>
          </a:xfrm>
          <a:prstGeom prst="rect">
            <a:avLst/>
          </a:prstGeom>
        </p:spPr>
        <p:txBody>
          <a:bodyPr anchor="t" rtlCol="false" tIns="0" lIns="0" bIns="0" rIns="0">
            <a:spAutoFit/>
          </a:bodyPr>
          <a:lstStyle/>
          <a:p>
            <a:pPr algn="l">
              <a:lnSpc>
                <a:spcPts val="6480"/>
              </a:lnSpc>
            </a:pPr>
            <a:r>
              <a:rPr lang="en-US" sz="6000" spc="-570">
                <a:solidFill>
                  <a:srgbClr val="1CC9F1"/>
                </a:solidFill>
                <a:latin typeface="Inndam"/>
                <a:ea typeface="Inndam"/>
                <a:cs typeface="Inndam"/>
                <a:sym typeface="Inndam"/>
              </a:rPr>
              <a:t>PHÂN TÍCH VIỆC LỰA CHỌN CẤU TRÚC DỮ LIỆU</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64423"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349978" y="2237782"/>
            <a:ext cx="13660401" cy="47625"/>
            <a:chOff x="0" y="0"/>
            <a:chExt cx="3597801" cy="12543"/>
          </a:xfrm>
        </p:grpSpPr>
        <p:sp>
          <p:nvSpPr>
            <p:cNvPr name="Freeform 4" id="4"/>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5" id="5"/>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2349978" y="2969180"/>
            <a:ext cx="13660401" cy="3519170"/>
          </a:xfrm>
          <a:custGeom>
            <a:avLst/>
            <a:gdLst/>
            <a:ahLst/>
            <a:cxnLst/>
            <a:rect r="r" b="b" t="t" l="l"/>
            <a:pathLst>
              <a:path h="3519170" w="13660401">
                <a:moveTo>
                  <a:pt x="0" y="0"/>
                </a:moveTo>
                <a:lnTo>
                  <a:pt x="13660401" y="0"/>
                </a:lnTo>
                <a:lnTo>
                  <a:pt x="13660401" y="3519170"/>
                </a:lnTo>
                <a:lnTo>
                  <a:pt x="0" y="3519170"/>
                </a:lnTo>
                <a:lnTo>
                  <a:pt x="0" y="0"/>
                </a:lnTo>
                <a:close/>
              </a:path>
            </a:pathLst>
          </a:custGeom>
          <a:blipFill>
            <a:blip r:embed="rId3"/>
            <a:stretch>
              <a:fillRect l="0" t="0" r="-67830" b="0"/>
            </a:stretch>
          </a:blipFill>
        </p:spPr>
      </p:sp>
      <p:sp>
        <p:nvSpPr>
          <p:cNvPr name="TextBox 7" id="7"/>
          <p:cNvSpPr txBox="true"/>
          <p:nvPr/>
        </p:nvSpPr>
        <p:spPr>
          <a:xfrm rot="0">
            <a:off x="2707056" y="281645"/>
            <a:ext cx="12873888" cy="1672590"/>
          </a:xfrm>
          <a:prstGeom prst="rect">
            <a:avLst/>
          </a:prstGeom>
        </p:spPr>
        <p:txBody>
          <a:bodyPr anchor="t" rtlCol="false" tIns="0" lIns="0" bIns="0" rIns="0">
            <a:spAutoFit/>
          </a:bodyPr>
          <a:lstStyle/>
          <a:p>
            <a:pPr algn="l">
              <a:lnSpc>
                <a:spcPts val="6480"/>
              </a:lnSpc>
            </a:pPr>
            <a:r>
              <a:rPr lang="en-US" sz="6000" spc="-570">
                <a:solidFill>
                  <a:srgbClr val="1CC9F1"/>
                </a:solidFill>
                <a:latin typeface="Inndam"/>
                <a:ea typeface="Inndam"/>
                <a:cs typeface="Inndam"/>
                <a:sym typeface="Inndam"/>
              </a:rPr>
              <a:t>PHÂN TÍCH VIỆC LỰA CHỌN CẤU TRÚC DỮ LIỆU</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64423"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349978" y="2237782"/>
            <a:ext cx="13660401" cy="47625"/>
            <a:chOff x="0" y="0"/>
            <a:chExt cx="3597801" cy="12543"/>
          </a:xfrm>
        </p:grpSpPr>
        <p:sp>
          <p:nvSpPr>
            <p:cNvPr name="Freeform 4" id="4"/>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5" id="5"/>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2349978" y="2772757"/>
            <a:ext cx="13660401" cy="6813587"/>
          </a:xfrm>
          <a:custGeom>
            <a:avLst/>
            <a:gdLst/>
            <a:ahLst/>
            <a:cxnLst/>
            <a:rect r="r" b="b" t="t" l="l"/>
            <a:pathLst>
              <a:path h="6813587" w="13660401">
                <a:moveTo>
                  <a:pt x="0" y="0"/>
                </a:moveTo>
                <a:lnTo>
                  <a:pt x="13660401" y="0"/>
                </a:lnTo>
                <a:lnTo>
                  <a:pt x="13660401" y="6813587"/>
                </a:lnTo>
                <a:lnTo>
                  <a:pt x="0" y="6813587"/>
                </a:lnTo>
                <a:lnTo>
                  <a:pt x="0" y="0"/>
                </a:lnTo>
                <a:close/>
              </a:path>
            </a:pathLst>
          </a:custGeom>
          <a:blipFill>
            <a:blip r:embed="rId3"/>
            <a:stretch>
              <a:fillRect l="0" t="0" r="-85782" b="0"/>
            </a:stretch>
          </a:blipFill>
        </p:spPr>
      </p:sp>
      <p:sp>
        <p:nvSpPr>
          <p:cNvPr name="TextBox 7" id="7"/>
          <p:cNvSpPr txBox="true"/>
          <p:nvPr/>
        </p:nvSpPr>
        <p:spPr>
          <a:xfrm rot="0">
            <a:off x="2707056" y="281645"/>
            <a:ext cx="12873888" cy="1672590"/>
          </a:xfrm>
          <a:prstGeom prst="rect">
            <a:avLst/>
          </a:prstGeom>
        </p:spPr>
        <p:txBody>
          <a:bodyPr anchor="t" rtlCol="false" tIns="0" lIns="0" bIns="0" rIns="0">
            <a:spAutoFit/>
          </a:bodyPr>
          <a:lstStyle/>
          <a:p>
            <a:pPr algn="l">
              <a:lnSpc>
                <a:spcPts val="6480"/>
              </a:lnSpc>
            </a:pPr>
            <a:r>
              <a:rPr lang="en-US" sz="6000" spc="-570">
                <a:solidFill>
                  <a:srgbClr val="1CC9F1"/>
                </a:solidFill>
                <a:latin typeface="Inndam"/>
                <a:ea typeface="Inndam"/>
                <a:cs typeface="Inndam"/>
                <a:sym typeface="Inndam"/>
              </a:rPr>
              <a:t>PHÂN TÍCH VIỆC LỰA CHỌN CẤU TRÚC DỮ LIỆU</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64423"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349978" y="2237782"/>
            <a:ext cx="13660401" cy="47625"/>
            <a:chOff x="0" y="0"/>
            <a:chExt cx="3597801" cy="12543"/>
          </a:xfrm>
        </p:grpSpPr>
        <p:sp>
          <p:nvSpPr>
            <p:cNvPr name="Freeform 4" id="4"/>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5" id="5"/>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2349978" y="3059868"/>
            <a:ext cx="13660401" cy="6048430"/>
          </a:xfrm>
          <a:custGeom>
            <a:avLst/>
            <a:gdLst/>
            <a:ahLst/>
            <a:cxnLst/>
            <a:rect r="r" b="b" t="t" l="l"/>
            <a:pathLst>
              <a:path h="6048430" w="13660401">
                <a:moveTo>
                  <a:pt x="0" y="0"/>
                </a:moveTo>
                <a:lnTo>
                  <a:pt x="13660401" y="0"/>
                </a:lnTo>
                <a:lnTo>
                  <a:pt x="13660401" y="6048431"/>
                </a:lnTo>
                <a:lnTo>
                  <a:pt x="0" y="6048431"/>
                </a:lnTo>
                <a:lnTo>
                  <a:pt x="0" y="0"/>
                </a:lnTo>
                <a:close/>
              </a:path>
            </a:pathLst>
          </a:custGeom>
          <a:blipFill>
            <a:blip r:embed="rId3"/>
            <a:stretch>
              <a:fillRect l="0" t="0" r="0" b="0"/>
            </a:stretch>
          </a:blipFill>
        </p:spPr>
      </p:sp>
      <p:sp>
        <p:nvSpPr>
          <p:cNvPr name="TextBox 7" id="7"/>
          <p:cNvSpPr txBox="true"/>
          <p:nvPr/>
        </p:nvSpPr>
        <p:spPr>
          <a:xfrm rot="0">
            <a:off x="2707056" y="281645"/>
            <a:ext cx="12873888" cy="1672590"/>
          </a:xfrm>
          <a:prstGeom prst="rect">
            <a:avLst/>
          </a:prstGeom>
        </p:spPr>
        <p:txBody>
          <a:bodyPr anchor="t" rtlCol="false" tIns="0" lIns="0" bIns="0" rIns="0">
            <a:spAutoFit/>
          </a:bodyPr>
          <a:lstStyle/>
          <a:p>
            <a:pPr algn="l">
              <a:lnSpc>
                <a:spcPts val="6480"/>
              </a:lnSpc>
            </a:pPr>
            <a:r>
              <a:rPr lang="en-US" sz="6000" spc="-570">
                <a:solidFill>
                  <a:srgbClr val="1CC9F1"/>
                </a:solidFill>
                <a:latin typeface="Inndam"/>
                <a:ea typeface="Inndam"/>
                <a:cs typeface="Inndam"/>
                <a:sym typeface="Inndam"/>
              </a:rPr>
              <a:t>ĐÁNH GIÁ ĐỘ PHỨC TẠP THUẬT TOÁN VÀ KHÔNG GIAN TỔNG THỂ</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64423"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349978" y="2237782"/>
            <a:ext cx="13660401" cy="47625"/>
            <a:chOff x="0" y="0"/>
            <a:chExt cx="3597801" cy="12543"/>
          </a:xfrm>
        </p:grpSpPr>
        <p:sp>
          <p:nvSpPr>
            <p:cNvPr name="Freeform 4" id="4"/>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5" id="5"/>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2349978" y="2833528"/>
            <a:ext cx="13660401" cy="3392564"/>
          </a:xfrm>
          <a:custGeom>
            <a:avLst/>
            <a:gdLst/>
            <a:ahLst/>
            <a:cxnLst/>
            <a:rect r="r" b="b" t="t" l="l"/>
            <a:pathLst>
              <a:path h="3392564" w="13660401">
                <a:moveTo>
                  <a:pt x="0" y="0"/>
                </a:moveTo>
                <a:lnTo>
                  <a:pt x="13660401" y="0"/>
                </a:lnTo>
                <a:lnTo>
                  <a:pt x="13660401" y="3392564"/>
                </a:lnTo>
                <a:lnTo>
                  <a:pt x="0" y="3392564"/>
                </a:lnTo>
                <a:lnTo>
                  <a:pt x="0" y="0"/>
                </a:lnTo>
                <a:close/>
              </a:path>
            </a:pathLst>
          </a:custGeom>
          <a:blipFill>
            <a:blip r:embed="rId3"/>
            <a:stretch>
              <a:fillRect l="0" t="0" r="-75040" b="0"/>
            </a:stretch>
          </a:blipFill>
        </p:spPr>
      </p:sp>
      <p:sp>
        <p:nvSpPr>
          <p:cNvPr name="TextBox 7" id="7"/>
          <p:cNvSpPr txBox="true"/>
          <p:nvPr/>
        </p:nvSpPr>
        <p:spPr>
          <a:xfrm rot="0">
            <a:off x="2707056" y="281645"/>
            <a:ext cx="12873888" cy="1672590"/>
          </a:xfrm>
          <a:prstGeom prst="rect">
            <a:avLst/>
          </a:prstGeom>
        </p:spPr>
        <p:txBody>
          <a:bodyPr anchor="t" rtlCol="false" tIns="0" lIns="0" bIns="0" rIns="0">
            <a:spAutoFit/>
          </a:bodyPr>
          <a:lstStyle/>
          <a:p>
            <a:pPr algn="l">
              <a:lnSpc>
                <a:spcPts val="6480"/>
              </a:lnSpc>
            </a:pPr>
            <a:r>
              <a:rPr lang="en-US" sz="6000" spc="-570">
                <a:solidFill>
                  <a:srgbClr val="1CC9F1"/>
                </a:solidFill>
                <a:latin typeface="Inndam"/>
                <a:ea typeface="Inndam"/>
                <a:cs typeface="Inndam"/>
                <a:sym typeface="Inndam"/>
              </a:rPr>
              <a:t>ĐÁNH GIÁ ĐỘ PHỨC TẠP THUẬT TOÁN VÀ KHÔNG GIAN TỔNG THỂ</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64423" y="0"/>
            <a:ext cx="19956757" cy="12971892"/>
          </a:xfrm>
          <a:custGeom>
            <a:avLst/>
            <a:gdLst/>
            <a:ahLst/>
            <a:cxnLst/>
            <a:rect r="r" b="b" t="t" l="l"/>
            <a:pathLst>
              <a:path h="12971892" w="19956757">
                <a:moveTo>
                  <a:pt x="0" y="0"/>
                </a:moveTo>
                <a:lnTo>
                  <a:pt x="19956757" y="0"/>
                </a:lnTo>
                <a:lnTo>
                  <a:pt x="19956757" y="12971892"/>
                </a:lnTo>
                <a:lnTo>
                  <a:pt x="0" y="12971892"/>
                </a:lnTo>
                <a:lnTo>
                  <a:pt x="0" y="0"/>
                </a:lnTo>
                <a:close/>
              </a:path>
            </a:pathLst>
          </a:custGeom>
          <a:blipFill>
            <a:blip r:embed="rId2">
              <a:alphaModFix amt="28000"/>
            </a:blip>
            <a:stretch>
              <a:fillRect l="0" t="0" r="0" b="0"/>
            </a:stretch>
          </a:blipFill>
        </p:spPr>
      </p:sp>
      <p:grpSp>
        <p:nvGrpSpPr>
          <p:cNvPr name="Group 3" id="3"/>
          <p:cNvGrpSpPr/>
          <p:nvPr/>
        </p:nvGrpSpPr>
        <p:grpSpPr>
          <a:xfrm rot="0">
            <a:off x="2349978" y="2237782"/>
            <a:ext cx="13660401" cy="47625"/>
            <a:chOff x="0" y="0"/>
            <a:chExt cx="3597801" cy="12543"/>
          </a:xfrm>
        </p:grpSpPr>
        <p:sp>
          <p:nvSpPr>
            <p:cNvPr name="Freeform 4" id="4"/>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5" id="5"/>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2349978" y="2572107"/>
            <a:ext cx="13660401" cy="7042420"/>
          </a:xfrm>
          <a:custGeom>
            <a:avLst/>
            <a:gdLst/>
            <a:ahLst/>
            <a:cxnLst/>
            <a:rect r="r" b="b" t="t" l="l"/>
            <a:pathLst>
              <a:path h="7042420" w="13660401">
                <a:moveTo>
                  <a:pt x="0" y="0"/>
                </a:moveTo>
                <a:lnTo>
                  <a:pt x="13660401" y="0"/>
                </a:lnTo>
                <a:lnTo>
                  <a:pt x="13660401" y="7042419"/>
                </a:lnTo>
                <a:lnTo>
                  <a:pt x="0" y="7042419"/>
                </a:lnTo>
                <a:lnTo>
                  <a:pt x="0" y="0"/>
                </a:lnTo>
                <a:close/>
              </a:path>
            </a:pathLst>
          </a:custGeom>
          <a:blipFill>
            <a:blip r:embed="rId3"/>
            <a:stretch>
              <a:fillRect l="0" t="0" r="-52704" b="0"/>
            </a:stretch>
          </a:blipFill>
        </p:spPr>
      </p:sp>
      <p:sp>
        <p:nvSpPr>
          <p:cNvPr name="TextBox 7" id="7"/>
          <p:cNvSpPr txBox="true"/>
          <p:nvPr/>
        </p:nvSpPr>
        <p:spPr>
          <a:xfrm rot="0">
            <a:off x="2707056" y="291170"/>
            <a:ext cx="12873888" cy="1945005"/>
          </a:xfrm>
          <a:prstGeom prst="rect">
            <a:avLst/>
          </a:prstGeom>
        </p:spPr>
        <p:txBody>
          <a:bodyPr anchor="t" rtlCol="false" tIns="0" lIns="0" bIns="0" rIns="0">
            <a:spAutoFit/>
          </a:bodyPr>
          <a:lstStyle/>
          <a:p>
            <a:pPr algn="l">
              <a:lnSpc>
                <a:spcPts val="7559"/>
              </a:lnSpc>
            </a:pPr>
            <a:r>
              <a:rPr lang="en-US" sz="6999" spc="-664">
                <a:solidFill>
                  <a:srgbClr val="1CC9F1"/>
                </a:solidFill>
                <a:latin typeface="Inndam"/>
                <a:ea typeface="Inndam"/>
                <a:cs typeface="Inndam"/>
                <a:sym typeface="Inndam"/>
              </a:rPr>
              <a:t>KỸ THUẬT LẬP TRÌNH CẦN LƯU Ý</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9958573" y="7005887"/>
            <a:ext cx="6206878" cy="1352644"/>
            <a:chOff x="0" y="0"/>
            <a:chExt cx="1515189" cy="330200"/>
          </a:xfrm>
        </p:grpSpPr>
        <p:sp>
          <p:nvSpPr>
            <p:cNvPr name="Freeform 7" id="7"/>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9" id="9"/>
          <p:cNvGrpSpPr/>
          <p:nvPr/>
        </p:nvGrpSpPr>
        <p:grpSpPr>
          <a:xfrm rot="0">
            <a:off x="8473305" y="6985532"/>
            <a:ext cx="1856152" cy="1352644"/>
            <a:chOff x="0" y="0"/>
            <a:chExt cx="453114" cy="330200"/>
          </a:xfrm>
        </p:grpSpPr>
        <p:sp>
          <p:nvSpPr>
            <p:cNvPr name="Freeform 10" id="10"/>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1950529" y="5318251"/>
            <a:ext cx="6206878" cy="1352644"/>
            <a:chOff x="0" y="0"/>
            <a:chExt cx="1515189" cy="330200"/>
          </a:xfrm>
        </p:grpSpPr>
        <p:sp>
          <p:nvSpPr>
            <p:cNvPr name="Freeform 13" id="13">
              <a:hlinkClick r:id="rId3" action="ppaction://hlinksldjump"/>
            </p:cNvPr>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14" id="14"/>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u="sng">
                  <a:solidFill>
                    <a:srgbClr val="38B6FF"/>
                  </a:solidFill>
                  <a:latin typeface="Inndam"/>
                  <a:ea typeface="Inndam"/>
                  <a:cs typeface="Inndam"/>
                  <a:sym typeface="Inndam"/>
                  <a:hlinkClick r:id="rId3" action="ppaction://hlinksldjump"/>
                </a:rPr>
                <a:t>KIẾN THỨC &amp; THUẬT TOÁN</a:t>
              </a:r>
            </a:p>
          </p:txBody>
        </p:sp>
      </p:grpSp>
      <p:grpSp>
        <p:nvGrpSpPr>
          <p:cNvPr name="Group 15" id="15"/>
          <p:cNvGrpSpPr/>
          <p:nvPr/>
        </p:nvGrpSpPr>
        <p:grpSpPr>
          <a:xfrm rot="0">
            <a:off x="651192" y="5318251"/>
            <a:ext cx="1856152" cy="1352644"/>
            <a:chOff x="0" y="0"/>
            <a:chExt cx="453114" cy="330200"/>
          </a:xfrm>
        </p:grpSpPr>
        <p:sp>
          <p:nvSpPr>
            <p:cNvPr name="Freeform 16" id="16">
              <a:hlinkClick r:id="rId3" action="ppaction://hlinksldjump"/>
            </p:cNvPr>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7" id="17"/>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8" id="18"/>
          <p:cNvGrpSpPr/>
          <p:nvPr/>
        </p:nvGrpSpPr>
        <p:grpSpPr>
          <a:xfrm rot="0">
            <a:off x="949795" y="5132249"/>
            <a:ext cx="1258946" cy="1724649"/>
            <a:chOff x="0" y="0"/>
            <a:chExt cx="4018280" cy="5504700"/>
          </a:xfrm>
        </p:grpSpPr>
        <p:sp>
          <p:nvSpPr>
            <p:cNvPr name="Freeform 19" id="19">
              <a:hlinkClick r:id="rId3" action="ppaction://hlinksldjump"/>
            </p:cNvPr>
            <p:cNvSpPr/>
            <p:nvPr/>
          </p:nvSpPr>
          <p:spPr>
            <a:xfrm flipH="false" flipV="false" rot="0">
              <a:off x="0" y="0"/>
              <a:ext cx="4018280" cy="5504700"/>
            </a:xfrm>
            <a:custGeom>
              <a:avLst/>
              <a:gdLst/>
              <a:ahLst/>
              <a:cxnLst/>
              <a:rect r="r" b="b" t="t" l="l"/>
              <a:pathLst>
                <a:path h="5504700" w="4018280">
                  <a:moveTo>
                    <a:pt x="563880" y="331810"/>
                  </a:moveTo>
                  <a:cubicBezTo>
                    <a:pt x="877570" y="111001"/>
                    <a:pt x="1342390" y="0"/>
                    <a:pt x="1958340" y="0"/>
                  </a:cubicBezTo>
                  <a:cubicBezTo>
                    <a:pt x="3149600" y="0"/>
                    <a:pt x="3743960" y="404617"/>
                    <a:pt x="3743960" y="1213851"/>
                  </a:cubicBezTo>
                  <a:cubicBezTo>
                    <a:pt x="3743960" y="1544467"/>
                    <a:pt x="3604260" y="1817792"/>
                    <a:pt x="3324860" y="2035020"/>
                  </a:cubicBezTo>
                  <a:cubicBezTo>
                    <a:pt x="3045460" y="2251055"/>
                    <a:pt x="2644140" y="2402637"/>
                    <a:pt x="2122170" y="2489767"/>
                  </a:cubicBezTo>
                  <a:lnTo>
                    <a:pt x="2122170" y="2505283"/>
                  </a:lnTo>
                  <a:cubicBezTo>
                    <a:pt x="2769870" y="2550638"/>
                    <a:pt x="3247390" y="2698640"/>
                    <a:pt x="3556000" y="2948094"/>
                  </a:cubicBezTo>
                  <a:cubicBezTo>
                    <a:pt x="3864610" y="3197548"/>
                    <a:pt x="4018280" y="3521003"/>
                    <a:pt x="4018280" y="3917264"/>
                  </a:cubicBezTo>
                  <a:cubicBezTo>
                    <a:pt x="4018280" y="4405431"/>
                    <a:pt x="3816350" y="4793338"/>
                    <a:pt x="3411220" y="5077405"/>
                  </a:cubicBezTo>
                  <a:cubicBezTo>
                    <a:pt x="3006090" y="5362666"/>
                    <a:pt x="2443480" y="5504700"/>
                    <a:pt x="1723390" y="5504700"/>
                  </a:cubicBezTo>
                  <a:cubicBezTo>
                    <a:pt x="1441450" y="5504700"/>
                    <a:pt x="1178560" y="5473667"/>
                    <a:pt x="935990" y="5412796"/>
                  </a:cubicBezTo>
                  <a:cubicBezTo>
                    <a:pt x="693420" y="5351924"/>
                    <a:pt x="476250" y="5231374"/>
                    <a:pt x="285750" y="5049953"/>
                  </a:cubicBezTo>
                  <a:cubicBezTo>
                    <a:pt x="95250" y="4869726"/>
                    <a:pt x="0" y="4654885"/>
                    <a:pt x="0" y="4405431"/>
                  </a:cubicBezTo>
                  <a:cubicBezTo>
                    <a:pt x="0" y="4155977"/>
                    <a:pt x="60960" y="3962620"/>
                    <a:pt x="184150" y="3825361"/>
                  </a:cubicBezTo>
                  <a:cubicBezTo>
                    <a:pt x="307340" y="3688101"/>
                    <a:pt x="474980" y="3618875"/>
                    <a:pt x="689610" y="3618875"/>
                  </a:cubicBezTo>
                  <a:cubicBezTo>
                    <a:pt x="904240" y="3618875"/>
                    <a:pt x="1073150" y="3673778"/>
                    <a:pt x="1198880" y="3783586"/>
                  </a:cubicBezTo>
                  <a:cubicBezTo>
                    <a:pt x="1324610" y="3893394"/>
                    <a:pt x="1386840" y="4023492"/>
                    <a:pt x="1386840" y="4172687"/>
                  </a:cubicBezTo>
                  <a:cubicBezTo>
                    <a:pt x="1386840" y="4323075"/>
                    <a:pt x="1366520" y="4450786"/>
                    <a:pt x="1324610" y="4558206"/>
                  </a:cubicBezTo>
                  <a:lnTo>
                    <a:pt x="1080770" y="4558206"/>
                  </a:lnTo>
                  <a:cubicBezTo>
                    <a:pt x="1049020" y="4639369"/>
                    <a:pt x="1033780" y="4724112"/>
                    <a:pt x="1033780" y="4810048"/>
                  </a:cubicBezTo>
                  <a:cubicBezTo>
                    <a:pt x="1033780" y="5171697"/>
                    <a:pt x="1253490" y="5351924"/>
                    <a:pt x="1691640" y="5351924"/>
                  </a:cubicBezTo>
                  <a:cubicBezTo>
                    <a:pt x="2000250" y="5351924"/>
                    <a:pt x="2209800" y="5237342"/>
                    <a:pt x="2322830" y="5008179"/>
                  </a:cubicBezTo>
                  <a:cubicBezTo>
                    <a:pt x="2434590" y="4779015"/>
                    <a:pt x="2491740" y="4448399"/>
                    <a:pt x="2491740" y="4015137"/>
                  </a:cubicBezTo>
                  <a:cubicBezTo>
                    <a:pt x="2491740" y="3583068"/>
                    <a:pt x="2438400" y="3267968"/>
                    <a:pt x="2331720" y="3072224"/>
                  </a:cubicBezTo>
                  <a:cubicBezTo>
                    <a:pt x="2225040" y="2876480"/>
                    <a:pt x="2066290" y="2727285"/>
                    <a:pt x="1858010" y="2625833"/>
                  </a:cubicBezTo>
                  <a:cubicBezTo>
                    <a:pt x="1670050" y="2666414"/>
                    <a:pt x="1442720" y="2699833"/>
                    <a:pt x="1176020" y="2724898"/>
                  </a:cubicBezTo>
                  <a:lnTo>
                    <a:pt x="1151890" y="2556606"/>
                  </a:lnTo>
                  <a:cubicBezTo>
                    <a:pt x="1611630" y="2511251"/>
                    <a:pt x="1912620" y="2403830"/>
                    <a:pt x="2056130" y="2235539"/>
                  </a:cubicBezTo>
                  <a:cubicBezTo>
                    <a:pt x="2199640" y="2067246"/>
                    <a:pt x="2272030" y="1768856"/>
                    <a:pt x="2272030" y="1337981"/>
                  </a:cubicBezTo>
                  <a:cubicBezTo>
                    <a:pt x="2272030" y="908300"/>
                    <a:pt x="2228850" y="600361"/>
                    <a:pt x="2142490" y="414166"/>
                  </a:cubicBezTo>
                  <a:cubicBezTo>
                    <a:pt x="2056130" y="227970"/>
                    <a:pt x="1911350" y="136066"/>
                    <a:pt x="1708150" y="136066"/>
                  </a:cubicBezTo>
                  <a:cubicBezTo>
                    <a:pt x="1504950" y="136066"/>
                    <a:pt x="1360170" y="195744"/>
                    <a:pt x="1273810" y="315100"/>
                  </a:cubicBezTo>
                  <a:cubicBezTo>
                    <a:pt x="1186180" y="436843"/>
                    <a:pt x="1143000" y="550231"/>
                    <a:pt x="1143000" y="656458"/>
                  </a:cubicBezTo>
                  <a:cubicBezTo>
                    <a:pt x="1143000" y="762685"/>
                    <a:pt x="1158240" y="858170"/>
                    <a:pt x="1189990" y="939332"/>
                  </a:cubicBezTo>
                  <a:lnTo>
                    <a:pt x="1417320" y="939332"/>
                  </a:lnTo>
                  <a:cubicBezTo>
                    <a:pt x="1459230" y="1046752"/>
                    <a:pt x="1479550" y="1174463"/>
                    <a:pt x="1479550" y="1324852"/>
                  </a:cubicBezTo>
                  <a:cubicBezTo>
                    <a:pt x="1479550" y="1475240"/>
                    <a:pt x="1414780" y="1605339"/>
                    <a:pt x="1283970" y="1713953"/>
                  </a:cubicBezTo>
                  <a:cubicBezTo>
                    <a:pt x="1153160" y="1823760"/>
                    <a:pt x="980440" y="1878664"/>
                    <a:pt x="767080" y="1878664"/>
                  </a:cubicBezTo>
                  <a:cubicBezTo>
                    <a:pt x="552450" y="1878664"/>
                    <a:pt x="387350" y="1811824"/>
                    <a:pt x="269240" y="1675759"/>
                  </a:cubicBezTo>
                  <a:cubicBezTo>
                    <a:pt x="152400" y="1540886"/>
                    <a:pt x="93980" y="1371401"/>
                    <a:pt x="93980" y="1168495"/>
                  </a:cubicBezTo>
                  <a:cubicBezTo>
                    <a:pt x="93980" y="831911"/>
                    <a:pt x="250190" y="553812"/>
                    <a:pt x="563880" y="331810"/>
                  </a:cubicBezTo>
                  <a:close/>
                </a:path>
              </a:pathLst>
            </a:custGeom>
            <a:blipFill>
              <a:blip r:embed="rId4"/>
              <a:stretch>
                <a:fillRect l="-46899" t="0" r="-46899"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grpSp>
        <p:nvGrpSpPr>
          <p:cNvPr name="Group 20" id="20"/>
          <p:cNvGrpSpPr/>
          <p:nvPr/>
        </p:nvGrpSpPr>
        <p:grpSpPr>
          <a:xfrm rot="0">
            <a:off x="8473305" y="6670895"/>
            <a:ext cx="1485268" cy="1687636"/>
            <a:chOff x="0" y="0"/>
            <a:chExt cx="4488180" cy="5099694"/>
          </a:xfrm>
        </p:grpSpPr>
        <p:sp>
          <p:nvSpPr>
            <p:cNvPr name="Freeform 21" id="21"/>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4"/>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22" id="22"/>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477569" cy="12287583"/>
          </a:xfrm>
          <a:custGeom>
            <a:avLst/>
            <a:gdLst/>
            <a:ahLst/>
            <a:cxnLst/>
            <a:rect r="r" b="b" t="t" l="l"/>
            <a:pathLst>
              <a:path h="12287583" w="18477569">
                <a:moveTo>
                  <a:pt x="0" y="0"/>
                </a:moveTo>
                <a:lnTo>
                  <a:pt x="18477569" y="0"/>
                </a:lnTo>
                <a:lnTo>
                  <a:pt x="18477569" y="12287583"/>
                </a:lnTo>
                <a:lnTo>
                  <a:pt x="0" y="12287583"/>
                </a:lnTo>
                <a:lnTo>
                  <a:pt x="0" y="0"/>
                </a:lnTo>
                <a:close/>
              </a:path>
            </a:pathLst>
          </a:custGeom>
          <a:blipFill>
            <a:blip r:embed="rId2">
              <a:alphaModFix amt="42000"/>
            </a:blip>
            <a:stretch>
              <a:fillRect l="0" t="0" r="0" b="0"/>
            </a:stretch>
          </a:blipFill>
        </p:spPr>
      </p:sp>
      <p:grpSp>
        <p:nvGrpSpPr>
          <p:cNvPr name="Group 3" id="3"/>
          <p:cNvGrpSpPr/>
          <p:nvPr/>
        </p:nvGrpSpPr>
        <p:grpSpPr>
          <a:xfrm rot="0">
            <a:off x="1028700" y="9210675"/>
            <a:ext cx="15891987" cy="47625"/>
            <a:chOff x="0" y="0"/>
            <a:chExt cx="4185544" cy="12543"/>
          </a:xfrm>
        </p:grpSpPr>
        <p:sp>
          <p:nvSpPr>
            <p:cNvPr name="Freeform 4" id="4"/>
            <p:cNvSpPr/>
            <p:nvPr/>
          </p:nvSpPr>
          <p:spPr>
            <a:xfrm flipH="false" flipV="false" rot="0">
              <a:off x="0" y="0"/>
              <a:ext cx="4185544" cy="12543"/>
            </a:xfrm>
            <a:custGeom>
              <a:avLst/>
              <a:gdLst/>
              <a:ahLst/>
              <a:cxnLst/>
              <a:rect r="r" b="b" t="t" l="l"/>
              <a:pathLst>
                <a:path h="12543" w="4185544">
                  <a:moveTo>
                    <a:pt x="0" y="0"/>
                  </a:moveTo>
                  <a:lnTo>
                    <a:pt x="4185544" y="0"/>
                  </a:lnTo>
                  <a:lnTo>
                    <a:pt x="4185544" y="12543"/>
                  </a:lnTo>
                  <a:lnTo>
                    <a:pt x="0" y="12543"/>
                  </a:lnTo>
                  <a:close/>
                </a:path>
              </a:pathLst>
            </a:custGeom>
            <a:solidFill>
              <a:srgbClr val="1CC9F1"/>
            </a:solidFill>
          </p:spPr>
        </p:sp>
        <p:sp>
          <p:nvSpPr>
            <p:cNvPr name="TextBox 5" id="5"/>
            <p:cNvSpPr txBox="true"/>
            <p:nvPr/>
          </p:nvSpPr>
          <p:spPr>
            <a:xfrm>
              <a:off x="0" y="28575"/>
              <a:ext cx="4185544" cy="12543"/>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9958573" y="7005887"/>
            <a:ext cx="6206878" cy="1352644"/>
            <a:chOff x="0" y="0"/>
            <a:chExt cx="1515189" cy="330200"/>
          </a:xfrm>
        </p:grpSpPr>
        <p:sp>
          <p:nvSpPr>
            <p:cNvPr name="Freeform 7" id="7"/>
            <p:cNvSpPr/>
            <p:nvPr/>
          </p:nvSpPr>
          <p:spPr>
            <a:xfrm flipH="false" flipV="false" rot="0">
              <a:off x="0" y="0"/>
              <a:ext cx="1515189" cy="330200"/>
            </a:xfrm>
            <a:custGeom>
              <a:avLst/>
              <a:gdLst/>
              <a:ahLst/>
              <a:cxnLst/>
              <a:rect r="r" b="b" t="t" l="l"/>
              <a:pathLst>
                <a:path h="330200" w="1515189">
                  <a:moveTo>
                    <a:pt x="1355169" y="0"/>
                  </a:moveTo>
                  <a:lnTo>
                    <a:pt x="160020" y="0"/>
                  </a:lnTo>
                  <a:lnTo>
                    <a:pt x="0" y="160020"/>
                  </a:lnTo>
                  <a:lnTo>
                    <a:pt x="0" y="170180"/>
                  </a:lnTo>
                  <a:lnTo>
                    <a:pt x="160020" y="330200"/>
                  </a:lnTo>
                  <a:lnTo>
                    <a:pt x="1355169" y="330200"/>
                  </a:lnTo>
                  <a:lnTo>
                    <a:pt x="1515189" y="170180"/>
                  </a:lnTo>
                  <a:lnTo>
                    <a:pt x="1515189" y="160020"/>
                  </a:lnTo>
                  <a:lnTo>
                    <a:pt x="1355169" y="0"/>
                  </a:lnTo>
                  <a:close/>
                </a:path>
              </a:pathLst>
            </a:custGeom>
            <a:ln w="9525" cap="sq">
              <a:solidFill>
                <a:srgbClr val="1CC9F1"/>
              </a:solidFill>
              <a:prstDash val="solid"/>
              <a:miter/>
            </a:ln>
          </p:spPr>
        </p:sp>
        <p:sp>
          <p:nvSpPr>
            <p:cNvPr name="TextBox 8" id="8"/>
            <p:cNvSpPr txBox="true"/>
            <p:nvPr/>
          </p:nvSpPr>
          <p:spPr>
            <a:xfrm>
              <a:off x="63500" y="92075"/>
              <a:ext cx="1388189" cy="174625"/>
            </a:xfrm>
            <a:prstGeom prst="rect">
              <a:avLst/>
            </a:prstGeom>
          </p:spPr>
          <p:txBody>
            <a:bodyPr anchor="ctr" rtlCol="false" tIns="50800" lIns="50800" bIns="50800" rIns="50800"/>
            <a:lstStyle/>
            <a:p>
              <a:pPr algn="ctr">
                <a:lnSpc>
                  <a:spcPts val="1782"/>
                </a:lnSpc>
              </a:pPr>
              <a:r>
                <a:rPr lang="en-US" sz="1800" spc="279">
                  <a:solidFill>
                    <a:srgbClr val="38B6FF"/>
                  </a:solidFill>
                  <a:latin typeface="Inndam"/>
                  <a:ea typeface="Inndam"/>
                  <a:cs typeface="Inndam"/>
                  <a:sym typeface="Inndam"/>
                </a:rPr>
                <a:t>PHÂN TÍCH TỪNG HÀM</a:t>
              </a:r>
            </a:p>
          </p:txBody>
        </p:sp>
      </p:grpSp>
      <p:grpSp>
        <p:nvGrpSpPr>
          <p:cNvPr name="Group 9" id="9"/>
          <p:cNvGrpSpPr/>
          <p:nvPr/>
        </p:nvGrpSpPr>
        <p:grpSpPr>
          <a:xfrm rot="0">
            <a:off x="8473305" y="6985532"/>
            <a:ext cx="1856152" cy="1352644"/>
            <a:chOff x="0" y="0"/>
            <a:chExt cx="453114" cy="330200"/>
          </a:xfrm>
        </p:grpSpPr>
        <p:sp>
          <p:nvSpPr>
            <p:cNvPr name="Freeform 10" id="10"/>
            <p:cNvSpPr/>
            <p:nvPr/>
          </p:nvSpPr>
          <p:spPr>
            <a:xfrm flipH="false" flipV="false" rot="0">
              <a:off x="0" y="0"/>
              <a:ext cx="453114" cy="330200"/>
            </a:xfrm>
            <a:custGeom>
              <a:avLst/>
              <a:gdLst/>
              <a:ahLst/>
              <a:cxnLst/>
              <a:rect r="r" b="b" t="t" l="l"/>
              <a:pathLst>
                <a:path h="330200" w="453114">
                  <a:moveTo>
                    <a:pt x="293094" y="0"/>
                  </a:moveTo>
                  <a:lnTo>
                    <a:pt x="160020" y="0"/>
                  </a:lnTo>
                  <a:lnTo>
                    <a:pt x="0" y="160020"/>
                  </a:lnTo>
                  <a:lnTo>
                    <a:pt x="0" y="170180"/>
                  </a:lnTo>
                  <a:lnTo>
                    <a:pt x="160020" y="330200"/>
                  </a:lnTo>
                  <a:lnTo>
                    <a:pt x="293094" y="330200"/>
                  </a:lnTo>
                  <a:lnTo>
                    <a:pt x="453114" y="170180"/>
                  </a:lnTo>
                  <a:lnTo>
                    <a:pt x="453114" y="160020"/>
                  </a:lnTo>
                  <a:lnTo>
                    <a:pt x="293094" y="0"/>
                  </a:lnTo>
                  <a:close/>
                </a:path>
              </a:pathLst>
            </a:custGeom>
            <a:ln w="9525" cap="sq">
              <a:solidFill>
                <a:srgbClr val="1CC9F1"/>
              </a:solidFill>
              <a:prstDash val="solid"/>
              <a:miter/>
            </a:ln>
          </p:spPr>
        </p:sp>
        <p:sp>
          <p:nvSpPr>
            <p:cNvPr name="TextBox 11" id="11"/>
            <p:cNvSpPr txBox="true"/>
            <p:nvPr/>
          </p:nvSpPr>
          <p:spPr>
            <a:xfrm>
              <a:off x="63500" y="139700"/>
              <a:ext cx="326114" cy="127000"/>
            </a:xfrm>
            <a:prstGeom prst="rect">
              <a:avLst/>
            </a:prstGeom>
          </p:spPr>
          <p:txBody>
            <a:bodyPr anchor="ctr" rtlCol="false" tIns="50800" lIns="50800" bIns="50800" rIns="50800"/>
            <a:lstStyle/>
            <a:p>
              <a:pPr algn="ctr">
                <a:lnSpc>
                  <a:spcPts val="3465"/>
                </a:lnSpc>
              </a:pPr>
            </a:p>
          </p:txBody>
        </p:sp>
      </p:grpSp>
      <p:grpSp>
        <p:nvGrpSpPr>
          <p:cNvPr name="Group 12" id="12"/>
          <p:cNvGrpSpPr/>
          <p:nvPr/>
        </p:nvGrpSpPr>
        <p:grpSpPr>
          <a:xfrm rot="0">
            <a:off x="8473305" y="6670895"/>
            <a:ext cx="1485268" cy="1687636"/>
            <a:chOff x="0" y="0"/>
            <a:chExt cx="4488180" cy="5099694"/>
          </a:xfrm>
        </p:grpSpPr>
        <p:sp>
          <p:nvSpPr>
            <p:cNvPr name="Freeform 13" id="13"/>
            <p:cNvSpPr/>
            <p:nvPr/>
          </p:nvSpPr>
          <p:spPr>
            <a:xfrm flipH="false" flipV="false" rot="0">
              <a:off x="0" y="0"/>
              <a:ext cx="4488180" cy="5099694"/>
            </a:xfrm>
            <a:custGeom>
              <a:avLst/>
              <a:gdLst/>
              <a:ahLst/>
              <a:cxnLst/>
              <a:rect r="r" b="b" t="t" l="l"/>
              <a:pathLst>
                <a:path h="5099694" w="4488180">
                  <a:moveTo>
                    <a:pt x="1386840" y="5099694"/>
                  </a:moveTo>
                  <a:lnTo>
                    <a:pt x="1386840" y="4960756"/>
                  </a:lnTo>
                  <a:lnTo>
                    <a:pt x="2123440" y="4960756"/>
                  </a:lnTo>
                  <a:lnTo>
                    <a:pt x="2123440" y="3795730"/>
                  </a:lnTo>
                  <a:lnTo>
                    <a:pt x="0" y="3795730"/>
                  </a:lnTo>
                  <a:lnTo>
                    <a:pt x="0" y="3656792"/>
                  </a:lnTo>
                  <a:lnTo>
                    <a:pt x="2208530" y="0"/>
                  </a:lnTo>
                  <a:lnTo>
                    <a:pt x="3563620" y="0"/>
                  </a:lnTo>
                  <a:lnTo>
                    <a:pt x="3563620" y="3620350"/>
                  </a:lnTo>
                  <a:lnTo>
                    <a:pt x="4339590" y="3620350"/>
                  </a:lnTo>
                  <a:lnTo>
                    <a:pt x="4339590" y="2986020"/>
                  </a:lnTo>
                  <a:lnTo>
                    <a:pt x="4488180" y="2986020"/>
                  </a:lnTo>
                  <a:lnTo>
                    <a:pt x="4488180" y="4333260"/>
                  </a:lnTo>
                  <a:lnTo>
                    <a:pt x="4339590" y="4333260"/>
                  </a:lnTo>
                  <a:lnTo>
                    <a:pt x="4339590" y="3794592"/>
                  </a:lnTo>
                  <a:lnTo>
                    <a:pt x="3563620" y="3794592"/>
                  </a:lnTo>
                  <a:lnTo>
                    <a:pt x="3563620" y="4960757"/>
                  </a:lnTo>
                  <a:lnTo>
                    <a:pt x="4104640" y="4960757"/>
                  </a:lnTo>
                  <a:lnTo>
                    <a:pt x="4104640" y="5099694"/>
                  </a:lnTo>
                  <a:lnTo>
                    <a:pt x="1386840" y="5099694"/>
                  </a:lnTo>
                  <a:close/>
                  <a:moveTo>
                    <a:pt x="250190" y="3620350"/>
                  </a:moveTo>
                  <a:lnTo>
                    <a:pt x="2122170" y="3620350"/>
                  </a:lnTo>
                  <a:lnTo>
                    <a:pt x="2122170" y="553473"/>
                  </a:lnTo>
                  <a:lnTo>
                    <a:pt x="250190" y="3620350"/>
                  </a:lnTo>
                  <a:close/>
                </a:path>
              </a:pathLst>
            </a:custGeom>
            <a:blipFill>
              <a:blip r:embed="rId3"/>
              <a:stretch>
                <a:fillRect l="-30371" t="0" r="-30371" b="0"/>
              </a:stretch>
            </a:blipFill>
            <a:ln w="66675" cap="sq">
              <a:gradFill>
                <a:gsLst>
                  <a:gs pos="0">
                    <a:srgbClr val="F7DFFF">
                      <a:alpha val="100000"/>
                    </a:srgbClr>
                  </a:gs>
                  <a:gs pos="50000">
                    <a:srgbClr val="FFFFFF">
                      <a:alpha val="100000"/>
                    </a:srgbClr>
                  </a:gs>
                  <a:gs pos="100000">
                    <a:srgbClr val="87EFFF">
                      <a:alpha val="100000"/>
                    </a:srgbClr>
                  </a:gs>
                </a:gsLst>
                <a:lin ang="2700000"/>
              </a:gradFill>
              <a:prstDash val="solid"/>
              <a:miter/>
            </a:ln>
          </p:spPr>
        </p:sp>
      </p:grpSp>
      <p:sp>
        <p:nvSpPr>
          <p:cNvPr name="Freeform 14" id="14"/>
          <p:cNvSpPr/>
          <p:nvPr/>
        </p:nvSpPr>
        <p:spPr>
          <a:xfrm flipH="false" flipV="false" rot="0">
            <a:off x="-1088432" y="6207363"/>
            <a:ext cx="4242144" cy="5020288"/>
          </a:xfrm>
          <a:custGeom>
            <a:avLst/>
            <a:gdLst/>
            <a:ahLst/>
            <a:cxnLst/>
            <a:rect r="r" b="b" t="t" l="l"/>
            <a:pathLst>
              <a:path h="5020288" w="4242144">
                <a:moveTo>
                  <a:pt x="0" y="0"/>
                </a:moveTo>
                <a:lnTo>
                  <a:pt x="4242143" y="0"/>
                </a:lnTo>
                <a:lnTo>
                  <a:pt x="4242143" y="5020289"/>
                </a:lnTo>
                <a:lnTo>
                  <a:pt x="0" y="50202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2992400" y="508072"/>
            <a:ext cx="13334628" cy="1653960"/>
          </a:xfrm>
          <a:prstGeom prst="rect">
            <a:avLst/>
          </a:prstGeom>
        </p:spPr>
        <p:txBody>
          <a:bodyPr anchor="t" rtlCol="false" tIns="0" lIns="0" bIns="0" rIns="0">
            <a:spAutoFit/>
          </a:bodyPr>
          <a:lstStyle/>
          <a:p>
            <a:pPr algn="l">
              <a:lnSpc>
                <a:spcPts val="10523"/>
              </a:lnSpc>
            </a:pPr>
            <a:r>
              <a:rPr lang="en-US" sz="16972" spc="-373">
                <a:solidFill>
                  <a:srgbClr val="1CC9F1"/>
                </a:solidFill>
                <a:latin typeface="Inndam"/>
                <a:ea typeface="Inndam"/>
                <a:cs typeface="Inndam"/>
                <a:sym typeface="Inndam"/>
              </a:rPr>
              <a:t>SUMMARY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NHÓM 1: HỆ PHƯƠNG TRÌNH &amp; NỘI SUY</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NHÓM 2: TÍCH PHÂN CƠ BẢN</a:t>
              </a:r>
            </a:p>
          </p:txBody>
        </p:sp>
      </p:grpSp>
      <p:grpSp>
        <p:nvGrpSpPr>
          <p:cNvPr name="Group 9" id="9"/>
          <p:cNvGrpSpPr/>
          <p:nvPr/>
        </p:nvGrpSpPr>
        <p:grpSpPr>
          <a:xfrm rot="0">
            <a:off x="2857052" y="5438775"/>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NHÓM 3: TÍCH PHÂN NÂNG CAO</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grpSp>
        <p:nvGrpSpPr>
          <p:cNvPr name="Group 15" id="15"/>
          <p:cNvGrpSpPr/>
          <p:nvPr/>
        </p:nvGrpSpPr>
        <p:grpSpPr>
          <a:xfrm rot="0">
            <a:off x="9978378" y="5438775"/>
            <a:ext cx="6286948" cy="2558464"/>
            <a:chOff x="0" y="0"/>
            <a:chExt cx="1753130" cy="713433"/>
          </a:xfrm>
        </p:grpSpPr>
        <p:sp>
          <p:nvSpPr>
            <p:cNvPr name="Freeform 16" id="16"/>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7" id="17"/>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NHÓM 4: GIẢI PHƯƠNG TRÌNH PHI TUYẾN</a:t>
              </a:r>
            </a:p>
          </p:txBody>
        </p:sp>
      </p:grpSp>
      <p:sp>
        <p:nvSpPr>
          <p:cNvPr name="TextBox 18" id="18"/>
          <p:cNvSpPr txBox="true"/>
          <p:nvPr/>
        </p:nvSpPr>
        <p:spPr>
          <a:xfrm rot="0">
            <a:off x="2707056" y="548345"/>
            <a:ext cx="12873888" cy="1666241"/>
          </a:xfrm>
          <a:prstGeom prst="rect">
            <a:avLst/>
          </a:prstGeom>
        </p:spPr>
        <p:txBody>
          <a:bodyPr anchor="t" rtlCol="false" tIns="0" lIns="0" bIns="0" rIns="0">
            <a:spAutoFit/>
          </a:bodyPr>
          <a:lstStyle/>
          <a:p>
            <a:pPr algn="l">
              <a:lnSpc>
                <a:spcPts val="6080"/>
              </a:lnSpc>
            </a:pPr>
            <a:r>
              <a:rPr lang="en-US" sz="8000" spc="-176">
                <a:solidFill>
                  <a:srgbClr val="1CC9F1"/>
                </a:solidFill>
                <a:latin typeface="Inndam"/>
                <a:ea typeface="Inndam"/>
                <a:cs typeface="Inndam"/>
                <a:sym typeface="Inndam"/>
              </a:rPr>
              <a:t>PHÂN TÍCH CHI TIẾT TỪNG HÀM</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GIAIHEPHUONGTRINH</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TIMEHESOLAGRANGE</a:t>
              </a:r>
            </a:p>
          </p:txBody>
        </p:sp>
      </p:grpSp>
      <p:grpSp>
        <p:nvGrpSpPr>
          <p:cNvPr name="Group 9" id="9"/>
          <p:cNvGrpSpPr/>
          <p:nvPr/>
        </p:nvGrpSpPr>
        <p:grpSpPr>
          <a:xfrm rot="0">
            <a:off x="2857052" y="5438775"/>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TINHGIATRIDATHUC</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grpSp>
        <p:nvGrpSpPr>
          <p:cNvPr name="Group 15" id="15"/>
          <p:cNvGrpSpPr/>
          <p:nvPr/>
        </p:nvGrpSpPr>
        <p:grpSpPr>
          <a:xfrm rot="0">
            <a:off x="9978378" y="5438775"/>
            <a:ext cx="6286948" cy="2558464"/>
            <a:chOff x="0" y="0"/>
            <a:chExt cx="1753130" cy="713433"/>
          </a:xfrm>
        </p:grpSpPr>
        <p:sp>
          <p:nvSpPr>
            <p:cNvPr name="Freeform 16" id="16"/>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7" id="17"/>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BINHPHUONGTOITHIEU</a:t>
              </a:r>
            </a:p>
          </p:txBody>
        </p:sp>
      </p:grpSp>
      <p:sp>
        <p:nvSpPr>
          <p:cNvPr name="TextBox 18" id="18"/>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1: HỆ PHƯƠNG TRÌNH &amp; NỘI SUY</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TONGBINHPHUONGSAISO</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TINHNOISUYLAGRANGE</a:t>
              </a:r>
            </a:p>
          </p:txBody>
        </p:sp>
      </p:grpSp>
      <p:grpSp>
        <p:nvGrpSpPr>
          <p:cNvPr name="Group 9" id="9"/>
          <p:cNvGrpSpPr/>
          <p:nvPr/>
        </p:nvGrpSpPr>
        <p:grpSpPr>
          <a:xfrm rot="0">
            <a:off x="2857052" y="5438775"/>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INDATHUC</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TextBox 15" id="15"/>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1: HỆ PHƯƠNG TRÌNH &amp; NỘI SUY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2349978" y="2585036"/>
            <a:ext cx="13660401" cy="6673264"/>
            <a:chOff x="0" y="0"/>
            <a:chExt cx="3809233" cy="1860855"/>
          </a:xfrm>
        </p:grpSpPr>
        <p:sp>
          <p:nvSpPr>
            <p:cNvPr name="Freeform 4" id="4"/>
            <p:cNvSpPr/>
            <p:nvPr/>
          </p:nvSpPr>
          <p:spPr>
            <a:xfrm flipH="false" flipV="false" rot="0">
              <a:off x="0" y="0"/>
              <a:ext cx="3809233" cy="1860855"/>
            </a:xfrm>
            <a:custGeom>
              <a:avLst/>
              <a:gdLst/>
              <a:ahLst/>
              <a:cxnLst/>
              <a:rect r="r" b="b" t="t" l="l"/>
              <a:pathLst>
                <a:path h="1860855" w="3809233">
                  <a:moveTo>
                    <a:pt x="3649214" y="0"/>
                  </a:moveTo>
                  <a:lnTo>
                    <a:pt x="160020" y="0"/>
                  </a:lnTo>
                  <a:lnTo>
                    <a:pt x="0" y="160020"/>
                  </a:lnTo>
                  <a:lnTo>
                    <a:pt x="0" y="1700835"/>
                  </a:lnTo>
                  <a:lnTo>
                    <a:pt x="160020" y="1860855"/>
                  </a:lnTo>
                  <a:lnTo>
                    <a:pt x="3649214" y="1860855"/>
                  </a:lnTo>
                  <a:lnTo>
                    <a:pt x="3809233" y="1700835"/>
                  </a:lnTo>
                  <a:lnTo>
                    <a:pt x="3809233" y="160020"/>
                  </a:lnTo>
                  <a:lnTo>
                    <a:pt x="3649214" y="0"/>
                  </a:lnTo>
                  <a:close/>
                </a:path>
              </a:pathLst>
            </a:custGeom>
            <a:ln w="9525" cap="sq">
              <a:solidFill>
                <a:srgbClr val="1CC9F1"/>
              </a:solidFill>
              <a:prstDash val="solid"/>
              <a:miter/>
            </a:ln>
          </p:spPr>
        </p:sp>
        <p:sp>
          <p:nvSpPr>
            <p:cNvPr name="TextBox 5" id="5"/>
            <p:cNvSpPr txBox="true"/>
            <p:nvPr/>
          </p:nvSpPr>
          <p:spPr>
            <a:xfrm>
              <a:off x="63500" y="92075"/>
              <a:ext cx="3682233" cy="1705280"/>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2349978" y="2237782"/>
            <a:ext cx="13660401" cy="47625"/>
            <a:chOff x="0" y="0"/>
            <a:chExt cx="3597801" cy="12543"/>
          </a:xfrm>
        </p:grpSpPr>
        <p:sp>
          <p:nvSpPr>
            <p:cNvPr name="Freeform 7" id="7"/>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8" id="8"/>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9" id="9"/>
          <p:cNvSpPr/>
          <p:nvPr/>
        </p:nvSpPr>
        <p:spPr>
          <a:xfrm flipH="false" flipV="false" rot="0">
            <a:off x="5190223" y="2776299"/>
            <a:ext cx="7874462" cy="6290737"/>
          </a:xfrm>
          <a:custGeom>
            <a:avLst/>
            <a:gdLst/>
            <a:ahLst/>
            <a:cxnLst/>
            <a:rect r="r" b="b" t="t" l="l"/>
            <a:pathLst>
              <a:path h="6290737" w="7874462">
                <a:moveTo>
                  <a:pt x="0" y="0"/>
                </a:moveTo>
                <a:lnTo>
                  <a:pt x="7874462" y="0"/>
                </a:lnTo>
                <a:lnTo>
                  <a:pt x="7874462" y="6290737"/>
                </a:lnTo>
                <a:lnTo>
                  <a:pt x="0" y="6290737"/>
                </a:lnTo>
                <a:lnTo>
                  <a:pt x="0" y="0"/>
                </a:lnTo>
                <a:close/>
              </a:path>
            </a:pathLst>
          </a:custGeom>
          <a:blipFill>
            <a:blip r:embed="rId3"/>
            <a:stretch>
              <a:fillRect l="0" t="-300" r="-96124" b="0"/>
            </a:stretch>
          </a:blipFill>
        </p:spPr>
      </p:sp>
      <p:sp>
        <p:nvSpPr>
          <p:cNvPr name="TextBox 10" id="10"/>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1: HỆ PHƯƠNG TRÌNH &amp; NỘI SUY</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CÁC HÀM MỤC TIÊU F1&amp;F2</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HINHTHANG</a:t>
              </a:r>
            </a:p>
          </p:txBody>
        </p:sp>
      </p:grpSp>
      <p:grpSp>
        <p:nvGrpSpPr>
          <p:cNvPr name="Group 9" id="9"/>
          <p:cNvGrpSpPr/>
          <p:nvPr/>
        </p:nvGrpSpPr>
        <p:grpSpPr>
          <a:xfrm rot="0">
            <a:off x="2857052" y="5438775"/>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SIMPSON</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grpSp>
        <p:nvGrpSpPr>
          <p:cNvPr name="Group 15" id="15"/>
          <p:cNvGrpSpPr/>
          <p:nvPr/>
        </p:nvGrpSpPr>
        <p:grpSpPr>
          <a:xfrm rot="0">
            <a:off x="9978378" y="5438775"/>
            <a:ext cx="6286948" cy="2558464"/>
            <a:chOff x="0" y="0"/>
            <a:chExt cx="1753130" cy="713433"/>
          </a:xfrm>
        </p:grpSpPr>
        <p:sp>
          <p:nvSpPr>
            <p:cNvPr name="Freeform 16" id="16"/>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7" id="17"/>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CÁC HÀM ĐÁNH GIÁ SAI SỐ TIÊN NGHIỆM</a:t>
              </a:r>
            </a:p>
          </p:txBody>
        </p:sp>
      </p:grpSp>
      <p:sp>
        <p:nvSpPr>
          <p:cNvPr name="TextBox 18" id="18"/>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2: TÍCH PHÂN CƠ BẢN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2349978" y="2571157"/>
            <a:ext cx="13660401" cy="6687143"/>
            <a:chOff x="0" y="0"/>
            <a:chExt cx="3809233" cy="1864725"/>
          </a:xfrm>
        </p:grpSpPr>
        <p:sp>
          <p:nvSpPr>
            <p:cNvPr name="Freeform 4" id="4"/>
            <p:cNvSpPr/>
            <p:nvPr/>
          </p:nvSpPr>
          <p:spPr>
            <a:xfrm flipH="false" flipV="false" rot="0">
              <a:off x="0" y="0"/>
              <a:ext cx="3809233" cy="1864725"/>
            </a:xfrm>
            <a:custGeom>
              <a:avLst/>
              <a:gdLst/>
              <a:ahLst/>
              <a:cxnLst/>
              <a:rect r="r" b="b" t="t" l="l"/>
              <a:pathLst>
                <a:path h="1864725" w="3809233">
                  <a:moveTo>
                    <a:pt x="3649214" y="0"/>
                  </a:moveTo>
                  <a:lnTo>
                    <a:pt x="160020" y="0"/>
                  </a:lnTo>
                  <a:lnTo>
                    <a:pt x="0" y="160020"/>
                  </a:lnTo>
                  <a:lnTo>
                    <a:pt x="0" y="1704705"/>
                  </a:lnTo>
                  <a:lnTo>
                    <a:pt x="160020" y="1864725"/>
                  </a:lnTo>
                  <a:lnTo>
                    <a:pt x="3649214" y="1864725"/>
                  </a:lnTo>
                  <a:lnTo>
                    <a:pt x="3809233" y="1704705"/>
                  </a:lnTo>
                  <a:lnTo>
                    <a:pt x="3809233" y="160020"/>
                  </a:lnTo>
                  <a:lnTo>
                    <a:pt x="3649214" y="0"/>
                  </a:lnTo>
                  <a:close/>
                </a:path>
              </a:pathLst>
            </a:custGeom>
            <a:ln w="9525" cap="sq">
              <a:solidFill>
                <a:srgbClr val="1CC9F1"/>
              </a:solidFill>
              <a:prstDash val="solid"/>
              <a:miter/>
            </a:ln>
          </p:spPr>
        </p:sp>
        <p:sp>
          <p:nvSpPr>
            <p:cNvPr name="TextBox 5" id="5"/>
            <p:cNvSpPr txBox="true"/>
            <p:nvPr/>
          </p:nvSpPr>
          <p:spPr>
            <a:xfrm>
              <a:off x="63500" y="92075"/>
              <a:ext cx="3682233" cy="1709150"/>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2349978" y="2237782"/>
            <a:ext cx="13660401" cy="47625"/>
            <a:chOff x="0" y="0"/>
            <a:chExt cx="3597801" cy="12543"/>
          </a:xfrm>
        </p:grpSpPr>
        <p:sp>
          <p:nvSpPr>
            <p:cNvPr name="Freeform 7" id="7"/>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8" id="8"/>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9" id="9"/>
          <p:cNvSpPr/>
          <p:nvPr/>
        </p:nvSpPr>
        <p:spPr>
          <a:xfrm flipH="false" flipV="false" rot="0">
            <a:off x="4176748" y="3040957"/>
            <a:ext cx="9901411" cy="5747543"/>
          </a:xfrm>
          <a:custGeom>
            <a:avLst/>
            <a:gdLst/>
            <a:ahLst/>
            <a:cxnLst/>
            <a:rect r="r" b="b" t="t" l="l"/>
            <a:pathLst>
              <a:path h="5747543" w="9901411">
                <a:moveTo>
                  <a:pt x="0" y="0"/>
                </a:moveTo>
                <a:lnTo>
                  <a:pt x="9901411" y="0"/>
                </a:lnTo>
                <a:lnTo>
                  <a:pt x="9901411" y="5747543"/>
                </a:lnTo>
                <a:lnTo>
                  <a:pt x="0" y="5747543"/>
                </a:lnTo>
                <a:lnTo>
                  <a:pt x="0" y="0"/>
                </a:lnTo>
                <a:close/>
              </a:path>
            </a:pathLst>
          </a:custGeom>
          <a:blipFill>
            <a:blip r:embed="rId3"/>
            <a:stretch>
              <a:fillRect l="0" t="0" r="-122669" b="0"/>
            </a:stretch>
          </a:blipFill>
        </p:spPr>
      </p:sp>
      <p:sp>
        <p:nvSpPr>
          <p:cNvPr name="TextBox 10" id="10"/>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2: TÍCH PHÂN CƠ BẢN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F</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F2 &amp; F4</a:t>
              </a:r>
            </a:p>
          </p:txBody>
        </p:sp>
      </p:grpSp>
      <p:grpSp>
        <p:nvGrpSpPr>
          <p:cNvPr name="Group 9" id="9"/>
          <p:cNvGrpSpPr/>
          <p:nvPr/>
        </p:nvGrpSpPr>
        <p:grpSpPr>
          <a:xfrm rot="0">
            <a:off x="2857052" y="5438775"/>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TRAPEZOIDAL</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grpSp>
        <p:nvGrpSpPr>
          <p:cNvPr name="Group 15" id="15"/>
          <p:cNvGrpSpPr/>
          <p:nvPr/>
        </p:nvGrpSpPr>
        <p:grpSpPr>
          <a:xfrm rot="0">
            <a:off x="9978378" y="5438775"/>
            <a:ext cx="6286948" cy="2558464"/>
            <a:chOff x="0" y="0"/>
            <a:chExt cx="1753130" cy="713433"/>
          </a:xfrm>
        </p:grpSpPr>
        <p:sp>
          <p:nvSpPr>
            <p:cNvPr name="Freeform 16" id="16"/>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7" id="17"/>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THUẬT TOÁN “LẶP TÌM N TỐI THIẾU”</a:t>
              </a:r>
            </a:p>
          </p:txBody>
        </p:sp>
      </p:grpSp>
      <p:sp>
        <p:nvSpPr>
          <p:cNvPr name="TextBox 18" id="18"/>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3: TÍCH PHÂN NÂNG CAO</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2349978" y="2852437"/>
            <a:ext cx="13660401" cy="6405863"/>
            <a:chOff x="0" y="0"/>
            <a:chExt cx="3809233" cy="1786289"/>
          </a:xfrm>
        </p:grpSpPr>
        <p:sp>
          <p:nvSpPr>
            <p:cNvPr name="Freeform 4" id="4"/>
            <p:cNvSpPr/>
            <p:nvPr/>
          </p:nvSpPr>
          <p:spPr>
            <a:xfrm flipH="false" flipV="false" rot="0">
              <a:off x="0" y="0"/>
              <a:ext cx="3809233" cy="1786289"/>
            </a:xfrm>
            <a:custGeom>
              <a:avLst/>
              <a:gdLst/>
              <a:ahLst/>
              <a:cxnLst/>
              <a:rect r="r" b="b" t="t" l="l"/>
              <a:pathLst>
                <a:path h="1786289" w="3809233">
                  <a:moveTo>
                    <a:pt x="3649214" y="0"/>
                  </a:moveTo>
                  <a:lnTo>
                    <a:pt x="160020" y="0"/>
                  </a:lnTo>
                  <a:lnTo>
                    <a:pt x="0" y="160020"/>
                  </a:lnTo>
                  <a:lnTo>
                    <a:pt x="0" y="1626269"/>
                  </a:lnTo>
                  <a:lnTo>
                    <a:pt x="160020" y="1786289"/>
                  </a:lnTo>
                  <a:lnTo>
                    <a:pt x="3649214" y="1786289"/>
                  </a:lnTo>
                  <a:lnTo>
                    <a:pt x="3809233" y="1626269"/>
                  </a:lnTo>
                  <a:lnTo>
                    <a:pt x="3809233" y="160020"/>
                  </a:lnTo>
                  <a:lnTo>
                    <a:pt x="3649214" y="0"/>
                  </a:lnTo>
                  <a:close/>
                </a:path>
              </a:pathLst>
            </a:custGeom>
            <a:ln w="9525" cap="sq">
              <a:solidFill>
                <a:srgbClr val="1CC9F1"/>
              </a:solidFill>
              <a:prstDash val="solid"/>
              <a:miter/>
            </a:ln>
          </p:spPr>
        </p:sp>
        <p:sp>
          <p:nvSpPr>
            <p:cNvPr name="TextBox 5" id="5"/>
            <p:cNvSpPr txBox="true"/>
            <p:nvPr/>
          </p:nvSpPr>
          <p:spPr>
            <a:xfrm>
              <a:off x="63500" y="92075"/>
              <a:ext cx="3682233" cy="1630714"/>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2349978" y="2237782"/>
            <a:ext cx="13660401" cy="47625"/>
            <a:chOff x="0" y="0"/>
            <a:chExt cx="3597801" cy="12543"/>
          </a:xfrm>
        </p:grpSpPr>
        <p:sp>
          <p:nvSpPr>
            <p:cNvPr name="Freeform 7" id="7"/>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8" id="8"/>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9" id="9"/>
          <p:cNvSpPr/>
          <p:nvPr/>
        </p:nvSpPr>
        <p:spPr>
          <a:xfrm flipH="false" flipV="false" rot="0">
            <a:off x="2741010" y="4608303"/>
            <a:ext cx="12805979" cy="2894132"/>
          </a:xfrm>
          <a:custGeom>
            <a:avLst/>
            <a:gdLst/>
            <a:ahLst/>
            <a:cxnLst/>
            <a:rect r="r" b="b" t="t" l="l"/>
            <a:pathLst>
              <a:path h="2894132" w="12805979">
                <a:moveTo>
                  <a:pt x="0" y="0"/>
                </a:moveTo>
                <a:lnTo>
                  <a:pt x="12805980" y="0"/>
                </a:lnTo>
                <a:lnTo>
                  <a:pt x="12805980" y="2894132"/>
                </a:lnTo>
                <a:lnTo>
                  <a:pt x="0" y="2894132"/>
                </a:lnTo>
                <a:lnTo>
                  <a:pt x="0" y="0"/>
                </a:lnTo>
                <a:close/>
              </a:path>
            </a:pathLst>
          </a:custGeom>
          <a:blipFill>
            <a:blip r:embed="rId3"/>
            <a:stretch>
              <a:fillRect l="0" t="0" r="-40315" b="0"/>
            </a:stretch>
          </a:blipFill>
        </p:spPr>
      </p:sp>
      <p:sp>
        <p:nvSpPr>
          <p:cNvPr name="TextBox 10" id="10"/>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3: TÍCH PHÂN NÂNG CAO</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CÁC HÀM PHI, F, DF VÀ NGHIEMCHINHXAC</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BAI1-PHƯƠNG PHÁP LẶP ĐƠN</a:t>
              </a:r>
            </a:p>
          </p:txBody>
        </p:sp>
      </p:grpSp>
      <p:grpSp>
        <p:nvGrpSpPr>
          <p:cNvPr name="Group 9" id="9"/>
          <p:cNvGrpSpPr/>
          <p:nvPr/>
        </p:nvGrpSpPr>
        <p:grpSpPr>
          <a:xfrm rot="0">
            <a:off x="2857052" y="5438775"/>
            <a:ext cx="6286948" cy="2558464"/>
            <a:chOff x="0" y="0"/>
            <a:chExt cx="1753130" cy="713433"/>
          </a:xfrm>
        </p:grpSpPr>
        <p:sp>
          <p:nvSpPr>
            <p:cNvPr name="Freeform 10" id="10"/>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1" id="11"/>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BAI2-PHƯƠNG PHÁP CHIA ĐÔI</a:t>
              </a:r>
            </a:p>
          </p:txBody>
        </p:sp>
      </p:grpSp>
      <p:grpSp>
        <p:nvGrpSpPr>
          <p:cNvPr name="Group 12" id="12"/>
          <p:cNvGrpSpPr/>
          <p:nvPr/>
        </p:nvGrpSpPr>
        <p:grpSpPr>
          <a:xfrm rot="0">
            <a:off x="2349978" y="2237782"/>
            <a:ext cx="13660401" cy="47625"/>
            <a:chOff x="0" y="0"/>
            <a:chExt cx="3597801" cy="12543"/>
          </a:xfrm>
        </p:grpSpPr>
        <p:sp>
          <p:nvSpPr>
            <p:cNvPr name="Freeform 13" id="13"/>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4" id="14"/>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grpSp>
        <p:nvGrpSpPr>
          <p:cNvPr name="Group 15" id="15"/>
          <p:cNvGrpSpPr/>
          <p:nvPr/>
        </p:nvGrpSpPr>
        <p:grpSpPr>
          <a:xfrm rot="0">
            <a:off x="9978378" y="5438775"/>
            <a:ext cx="6286948" cy="2558464"/>
            <a:chOff x="0" y="0"/>
            <a:chExt cx="1753130" cy="713433"/>
          </a:xfrm>
        </p:grpSpPr>
        <p:sp>
          <p:nvSpPr>
            <p:cNvPr name="Freeform 16" id="16"/>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17" id="17"/>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BAI3-PHƯƠNG PHÁP DÂY CUNG</a:t>
              </a:r>
            </a:p>
          </p:txBody>
        </p:sp>
      </p:grpSp>
      <p:sp>
        <p:nvSpPr>
          <p:cNvPr name="TextBox 18" id="18"/>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4: GIẢI PHƯƠNG TRÌNH PHI TUYẾN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1374749" y="2585036"/>
            <a:ext cx="6286948" cy="2558464"/>
            <a:chOff x="0" y="0"/>
            <a:chExt cx="1753130" cy="713433"/>
          </a:xfrm>
        </p:grpSpPr>
        <p:sp>
          <p:nvSpPr>
            <p:cNvPr name="Freeform 4" id="4"/>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5" id="5"/>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HÀM F(DOUBLE X) VÀ BAI4- PHƯƠNG PHÁP CHIA ĐÔI</a:t>
              </a:r>
            </a:p>
          </p:txBody>
        </p:sp>
      </p:grpSp>
      <p:grpSp>
        <p:nvGrpSpPr>
          <p:cNvPr name="Group 6" id="6"/>
          <p:cNvGrpSpPr/>
          <p:nvPr/>
        </p:nvGrpSpPr>
        <p:grpSpPr>
          <a:xfrm rot="0">
            <a:off x="8563130" y="2585036"/>
            <a:ext cx="6286948" cy="2558464"/>
            <a:chOff x="0" y="0"/>
            <a:chExt cx="1753130" cy="713433"/>
          </a:xfrm>
        </p:grpSpPr>
        <p:sp>
          <p:nvSpPr>
            <p:cNvPr name="Freeform 7" id="7"/>
            <p:cNvSpPr/>
            <p:nvPr/>
          </p:nvSpPr>
          <p:spPr>
            <a:xfrm flipH="false" flipV="false" rot="0">
              <a:off x="0" y="0"/>
              <a:ext cx="1753130" cy="713433"/>
            </a:xfrm>
            <a:custGeom>
              <a:avLst/>
              <a:gdLst/>
              <a:ahLst/>
              <a:cxnLst/>
              <a:rect r="r" b="b" t="t" l="l"/>
              <a:pathLst>
                <a:path h="713433" w="1753130">
                  <a:moveTo>
                    <a:pt x="1593110" y="0"/>
                  </a:moveTo>
                  <a:lnTo>
                    <a:pt x="160020" y="0"/>
                  </a:lnTo>
                  <a:lnTo>
                    <a:pt x="0" y="160020"/>
                  </a:lnTo>
                  <a:lnTo>
                    <a:pt x="0" y="553414"/>
                  </a:lnTo>
                  <a:lnTo>
                    <a:pt x="160020" y="713433"/>
                  </a:lnTo>
                  <a:lnTo>
                    <a:pt x="1593110" y="713433"/>
                  </a:lnTo>
                  <a:lnTo>
                    <a:pt x="1753130" y="553414"/>
                  </a:lnTo>
                  <a:lnTo>
                    <a:pt x="1753130" y="160020"/>
                  </a:lnTo>
                  <a:lnTo>
                    <a:pt x="1593110" y="0"/>
                  </a:lnTo>
                  <a:close/>
                </a:path>
              </a:pathLst>
            </a:custGeom>
            <a:ln w="9525" cap="sq">
              <a:solidFill>
                <a:srgbClr val="1CC9F1"/>
              </a:solidFill>
              <a:prstDash val="solid"/>
              <a:miter/>
            </a:ln>
          </p:spPr>
        </p:sp>
        <p:sp>
          <p:nvSpPr>
            <p:cNvPr name="TextBox 8" id="8"/>
            <p:cNvSpPr txBox="true"/>
            <p:nvPr/>
          </p:nvSpPr>
          <p:spPr>
            <a:xfrm>
              <a:off x="63500" y="92075"/>
              <a:ext cx="1626130" cy="557858"/>
            </a:xfrm>
            <a:prstGeom prst="rect">
              <a:avLst/>
            </a:prstGeom>
          </p:spPr>
          <p:txBody>
            <a:bodyPr anchor="ctr" rtlCol="false" tIns="50800" lIns="50800" bIns="50800" rIns="50800"/>
            <a:lstStyle/>
            <a:p>
              <a:pPr algn="ctr">
                <a:lnSpc>
                  <a:spcPts val="1782"/>
                </a:lnSpc>
              </a:pPr>
              <a:r>
                <a:rPr lang="en-US" sz="1800" spc="279">
                  <a:solidFill>
                    <a:srgbClr val="FFFFFF"/>
                  </a:solidFill>
                  <a:latin typeface="Inndam"/>
                  <a:ea typeface="Inndam"/>
                  <a:cs typeface="Inndam"/>
                  <a:sym typeface="Inndam"/>
                </a:rPr>
                <a:t>CÁC HÀM PHI, DPHI VÀ BAI5-PHƯƠNG PHÁP LẶP ĐƠN</a:t>
              </a:r>
            </a:p>
          </p:txBody>
        </p:sp>
      </p:grpSp>
      <p:grpSp>
        <p:nvGrpSpPr>
          <p:cNvPr name="Group 9" id="9"/>
          <p:cNvGrpSpPr/>
          <p:nvPr/>
        </p:nvGrpSpPr>
        <p:grpSpPr>
          <a:xfrm rot="0">
            <a:off x="2349978" y="2237782"/>
            <a:ext cx="13660401" cy="47625"/>
            <a:chOff x="0" y="0"/>
            <a:chExt cx="3597801" cy="12543"/>
          </a:xfrm>
        </p:grpSpPr>
        <p:sp>
          <p:nvSpPr>
            <p:cNvPr name="Freeform 10" id="10"/>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11" id="11"/>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TextBox 12" id="12"/>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4: GIẢI PHƯƠNG TRÌNH PHI TUYẾN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Freeform 2" id="2"/>
          <p:cNvSpPr/>
          <p:nvPr/>
        </p:nvSpPr>
        <p:spPr>
          <a:xfrm flipH="false" flipV="false" rot="0">
            <a:off x="-33093" y="-4026752"/>
            <a:ext cx="18321093" cy="15312237"/>
          </a:xfrm>
          <a:custGeom>
            <a:avLst/>
            <a:gdLst/>
            <a:ahLst/>
            <a:cxnLst/>
            <a:rect r="r" b="b" t="t" l="l"/>
            <a:pathLst>
              <a:path h="15312237" w="18321093">
                <a:moveTo>
                  <a:pt x="0" y="0"/>
                </a:moveTo>
                <a:lnTo>
                  <a:pt x="18321093" y="0"/>
                </a:lnTo>
                <a:lnTo>
                  <a:pt x="18321093" y="15312238"/>
                </a:lnTo>
                <a:lnTo>
                  <a:pt x="0" y="15312238"/>
                </a:lnTo>
                <a:lnTo>
                  <a:pt x="0" y="0"/>
                </a:lnTo>
                <a:close/>
              </a:path>
            </a:pathLst>
          </a:custGeom>
          <a:blipFill>
            <a:blip r:embed="rId2">
              <a:alphaModFix amt="25000"/>
            </a:blip>
            <a:stretch>
              <a:fillRect l="-35522" t="-3915" r="0" b="-3915"/>
            </a:stretch>
          </a:blipFill>
        </p:spPr>
      </p:sp>
      <p:grpSp>
        <p:nvGrpSpPr>
          <p:cNvPr name="Group 3" id="3"/>
          <p:cNvGrpSpPr/>
          <p:nvPr/>
        </p:nvGrpSpPr>
        <p:grpSpPr>
          <a:xfrm rot="0">
            <a:off x="2349978" y="2915355"/>
            <a:ext cx="13660401" cy="6342945"/>
            <a:chOff x="0" y="0"/>
            <a:chExt cx="3809233" cy="1768744"/>
          </a:xfrm>
        </p:grpSpPr>
        <p:sp>
          <p:nvSpPr>
            <p:cNvPr name="Freeform 4" id="4"/>
            <p:cNvSpPr/>
            <p:nvPr/>
          </p:nvSpPr>
          <p:spPr>
            <a:xfrm flipH="false" flipV="false" rot="0">
              <a:off x="0" y="0"/>
              <a:ext cx="3809233" cy="1768744"/>
            </a:xfrm>
            <a:custGeom>
              <a:avLst/>
              <a:gdLst/>
              <a:ahLst/>
              <a:cxnLst/>
              <a:rect r="r" b="b" t="t" l="l"/>
              <a:pathLst>
                <a:path h="1768744" w="3809233">
                  <a:moveTo>
                    <a:pt x="3649214" y="0"/>
                  </a:moveTo>
                  <a:lnTo>
                    <a:pt x="160020" y="0"/>
                  </a:lnTo>
                  <a:lnTo>
                    <a:pt x="0" y="160020"/>
                  </a:lnTo>
                  <a:lnTo>
                    <a:pt x="0" y="1608724"/>
                  </a:lnTo>
                  <a:lnTo>
                    <a:pt x="160020" y="1768744"/>
                  </a:lnTo>
                  <a:lnTo>
                    <a:pt x="3649214" y="1768744"/>
                  </a:lnTo>
                  <a:lnTo>
                    <a:pt x="3809233" y="1608724"/>
                  </a:lnTo>
                  <a:lnTo>
                    <a:pt x="3809233" y="160020"/>
                  </a:lnTo>
                  <a:lnTo>
                    <a:pt x="3649214" y="0"/>
                  </a:lnTo>
                  <a:close/>
                </a:path>
              </a:pathLst>
            </a:custGeom>
            <a:ln w="9525" cap="sq">
              <a:solidFill>
                <a:srgbClr val="1CC9F1"/>
              </a:solidFill>
              <a:prstDash val="solid"/>
              <a:miter/>
            </a:ln>
          </p:spPr>
        </p:sp>
        <p:sp>
          <p:nvSpPr>
            <p:cNvPr name="TextBox 5" id="5"/>
            <p:cNvSpPr txBox="true"/>
            <p:nvPr/>
          </p:nvSpPr>
          <p:spPr>
            <a:xfrm>
              <a:off x="63500" y="92075"/>
              <a:ext cx="3682233" cy="1613169"/>
            </a:xfrm>
            <a:prstGeom prst="rect">
              <a:avLst/>
            </a:prstGeom>
          </p:spPr>
          <p:txBody>
            <a:bodyPr anchor="ctr" rtlCol="false" tIns="50800" lIns="50800" bIns="50800" rIns="50800"/>
            <a:lstStyle/>
            <a:p>
              <a:pPr algn="ctr">
                <a:lnSpc>
                  <a:spcPts val="1782"/>
                </a:lnSpc>
              </a:pPr>
            </a:p>
          </p:txBody>
        </p:sp>
      </p:grpSp>
      <p:grpSp>
        <p:nvGrpSpPr>
          <p:cNvPr name="Group 6" id="6"/>
          <p:cNvGrpSpPr/>
          <p:nvPr/>
        </p:nvGrpSpPr>
        <p:grpSpPr>
          <a:xfrm rot="0">
            <a:off x="2349978" y="2237782"/>
            <a:ext cx="13660401" cy="47625"/>
            <a:chOff x="0" y="0"/>
            <a:chExt cx="3597801" cy="12543"/>
          </a:xfrm>
        </p:grpSpPr>
        <p:sp>
          <p:nvSpPr>
            <p:cNvPr name="Freeform 7" id="7"/>
            <p:cNvSpPr/>
            <p:nvPr/>
          </p:nvSpPr>
          <p:spPr>
            <a:xfrm flipH="false" flipV="false" rot="0">
              <a:off x="0" y="0"/>
              <a:ext cx="3597801" cy="12543"/>
            </a:xfrm>
            <a:custGeom>
              <a:avLst/>
              <a:gdLst/>
              <a:ahLst/>
              <a:cxnLst/>
              <a:rect r="r" b="b" t="t" l="l"/>
              <a:pathLst>
                <a:path h="12543" w="3597801">
                  <a:moveTo>
                    <a:pt x="0" y="0"/>
                  </a:moveTo>
                  <a:lnTo>
                    <a:pt x="3597801" y="0"/>
                  </a:lnTo>
                  <a:lnTo>
                    <a:pt x="3597801" y="12543"/>
                  </a:lnTo>
                  <a:lnTo>
                    <a:pt x="0" y="12543"/>
                  </a:lnTo>
                  <a:close/>
                </a:path>
              </a:pathLst>
            </a:custGeom>
            <a:solidFill>
              <a:srgbClr val="1CC9F1"/>
            </a:solidFill>
          </p:spPr>
        </p:sp>
        <p:sp>
          <p:nvSpPr>
            <p:cNvPr name="TextBox 8" id="8"/>
            <p:cNvSpPr txBox="true"/>
            <p:nvPr/>
          </p:nvSpPr>
          <p:spPr>
            <a:xfrm>
              <a:off x="0" y="28575"/>
              <a:ext cx="3597801" cy="12543"/>
            </a:xfrm>
            <a:prstGeom prst="rect">
              <a:avLst/>
            </a:prstGeom>
          </p:spPr>
          <p:txBody>
            <a:bodyPr anchor="ctr" rtlCol="false" tIns="50800" lIns="50800" bIns="50800" rIns="50800"/>
            <a:lstStyle/>
            <a:p>
              <a:pPr algn="ctr">
                <a:lnSpc>
                  <a:spcPts val="1782"/>
                </a:lnSpc>
              </a:pPr>
            </a:p>
          </p:txBody>
        </p:sp>
      </p:grpSp>
      <p:sp>
        <p:nvSpPr>
          <p:cNvPr name="Freeform 9" id="9"/>
          <p:cNvSpPr/>
          <p:nvPr/>
        </p:nvSpPr>
        <p:spPr>
          <a:xfrm flipH="false" flipV="false" rot="0">
            <a:off x="3022466" y="3769085"/>
            <a:ext cx="12315425" cy="4635485"/>
          </a:xfrm>
          <a:custGeom>
            <a:avLst/>
            <a:gdLst/>
            <a:ahLst/>
            <a:cxnLst/>
            <a:rect r="r" b="b" t="t" l="l"/>
            <a:pathLst>
              <a:path h="4635485" w="12315425">
                <a:moveTo>
                  <a:pt x="0" y="0"/>
                </a:moveTo>
                <a:lnTo>
                  <a:pt x="12315425" y="0"/>
                </a:lnTo>
                <a:lnTo>
                  <a:pt x="12315425" y="4635485"/>
                </a:lnTo>
                <a:lnTo>
                  <a:pt x="0" y="4635485"/>
                </a:lnTo>
                <a:lnTo>
                  <a:pt x="0" y="0"/>
                </a:lnTo>
                <a:close/>
              </a:path>
            </a:pathLst>
          </a:custGeom>
          <a:blipFill>
            <a:blip r:embed="rId3"/>
            <a:stretch>
              <a:fillRect l="0" t="0" r="-54515" b="0"/>
            </a:stretch>
          </a:blipFill>
        </p:spPr>
      </p:sp>
      <p:sp>
        <p:nvSpPr>
          <p:cNvPr name="TextBox 10" id="10"/>
          <p:cNvSpPr txBox="true"/>
          <p:nvPr/>
        </p:nvSpPr>
        <p:spPr>
          <a:xfrm rot="0">
            <a:off x="2707056" y="500720"/>
            <a:ext cx="12873888" cy="1448435"/>
          </a:xfrm>
          <a:prstGeom prst="rect">
            <a:avLst/>
          </a:prstGeom>
        </p:spPr>
        <p:txBody>
          <a:bodyPr anchor="t" rtlCol="false" tIns="0" lIns="0" bIns="0" rIns="0">
            <a:spAutoFit/>
          </a:bodyPr>
          <a:lstStyle/>
          <a:p>
            <a:pPr algn="l">
              <a:lnSpc>
                <a:spcPts val="5319"/>
              </a:lnSpc>
            </a:pPr>
            <a:r>
              <a:rPr lang="en-US" sz="6999" spc="-153">
                <a:solidFill>
                  <a:srgbClr val="1CC9F1"/>
                </a:solidFill>
                <a:latin typeface="Inndam"/>
                <a:ea typeface="Inndam"/>
                <a:cs typeface="Inndam"/>
                <a:sym typeface="Inndam"/>
              </a:rPr>
              <a:t>NHÓM 4: GIẢI PHƯƠNG TRÌNH PHI TUYẾN</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40E1A"/>
        </a:solidFill>
      </p:bgPr>
    </p:bg>
    <p:spTree>
      <p:nvGrpSpPr>
        <p:cNvPr id="1" name=""/>
        <p:cNvGrpSpPr/>
        <p:nvPr/>
      </p:nvGrpSpPr>
      <p:grpSpPr>
        <a:xfrm>
          <a:off x="0" y="0"/>
          <a:ext cx="0" cy="0"/>
          <a:chOff x="0" y="0"/>
          <a:chExt cx="0" cy="0"/>
        </a:xfrm>
      </p:grpSpPr>
      <p:sp>
        <p:nvSpPr>
          <p:cNvPr name="TextBox 2" id="2"/>
          <p:cNvSpPr txBox="true"/>
          <p:nvPr/>
        </p:nvSpPr>
        <p:spPr>
          <a:xfrm rot="0">
            <a:off x="2460084" y="733097"/>
            <a:ext cx="12211595" cy="814571"/>
          </a:xfrm>
          <a:prstGeom prst="rect">
            <a:avLst/>
          </a:prstGeom>
        </p:spPr>
        <p:txBody>
          <a:bodyPr anchor="t" rtlCol="false" tIns="0" lIns="0" bIns="0" rIns="0">
            <a:spAutoFit/>
          </a:bodyPr>
          <a:lstStyle/>
          <a:p>
            <a:pPr algn="l">
              <a:lnSpc>
                <a:spcPts val="5191"/>
              </a:lnSpc>
            </a:pPr>
            <a:r>
              <a:rPr lang="en-US" sz="8373" spc="-184">
                <a:solidFill>
                  <a:srgbClr val="1CC9F1"/>
                </a:solidFill>
                <a:latin typeface="Inndam"/>
                <a:ea typeface="Inndam"/>
                <a:cs typeface="Inndam"/>
                <a:sym typeface="Inndam"/>
              </a:rPr>
              <a:t>TEST CASE</a:t>
            </a:r>
          </a:p>
        </p:txBody>
      </p:sp>
      <p:grpSp>
        <p:nvGrpSpPr>
          <p:cNvPr name="Group 3" id="3"/>
          <p:cNvGrpSpPr/>
          <p:nvPr/>
        </p:nvGrpSpPr>
        <p:grpSpPr>
          <a:xfrm rot="0">
            <a:off x="1028700" y="1547668"/>
            <a:ext cx="15895742" cy="7593715"/>
            <a:chOff x="0" y="0"/>
            <a:chExt cx="2642651" cy="1262448"/>
          </a:xfrm>
        </p:grpSpPr>
        <p:sp>
          <p:nvSpPr>
            <p:cNvPr name="Freeform 4" id="4"/>
            <p:cNvSpPr/>
            <p:nvPr/>
          </p:nvSpPr>
          <p:spPr>
            <a:xfrm flipH="false" flipV="false" rot="0">
              <a:off x="0" y="0"/>
              <a:ext cx="2642651" cy="1262448"/>
            </a:xfrm>
            <a:custGeom>
              <a:avLst/>
              <a:gdLst/>
              <a:ahLst/>
              <a:cxnLst/>
              <a:rect r="r" b="b" t="t" l="l"/>
              <a:pathLst>
                <a:path h="1262448" w="2642651">
                  <a:moveTo>
                    <a:pt x="2482631" y="0"/>
                  </a:moveTo>
                  <a:lnTo>
                    <a:pt x="160020" y="0"/>
                  </a:lnTo>
                  <a:lnTo>
                    <a:pt x="0" y="160020"/>
                  </a:lnTo>
                  <a:lnTo>
                    <a:pt x="0" y="1102428"/>
                  </a:lnTo>
                  <a:lnTo>
                    <a:pt x="160020" y="1262448"/>
                  </a:lnTo>
                  <a:lnTo>
                    <a:pt x="2482631" y="1262448"/>
                  </a:lnTo>
                  <a:lnTo>
                    <a:pt x="2642651" y="1102428"/>
                  </a:lnTo>
                  <a:lnTo>
                    <a:pt x="2642651" y="160020"/>
                  </a:lnTo>
                  <a:lnTo>
                    <a:pt x="2482631" y="0"/>
                  </a:lnTo>
                  <a:close/>
                </a:path>
              </a:pathLst>
            </a:custGeom>
            <a:ln w="9525" cap="sq">
              <a:solidFill>
                <a:srgbClr val="1CC9F1"/>
              </a:solidFill>
              <a:prstDash val="solid"/>
              <a:miter/>
            </a:ln>
          </p:spPr>
        </p:sp>
        <p:sp>
          <p:nvSpPr>
            <p:cNvPr name="TextBox 5" id="5"/>
            <p:cNvSpPr txBox="true"/>
            <p:nvPr/>
          </p:nvSpPr>
          <p:spPr>
            <a:xfrm>
              <a:off x="63500" y="92075"/>
              <a:ext cx="2515651" cy="1106873"/>
            </a:xfrm>
            <a:prstGeom prst="rect">
              <a:avLst/>
            </a:prstGeom>
          </p:spPr>
          <p:txBody>
            <a:bodyPr anchor="ctr" rtlCol="false" tIns="50800" lIns="50800" bIns="50800" rIns="50800"/>
            <a:lstStyle/>
            <a:p>
              <a:pPr algn="ctr">
                <a:lnSpc>
                  <a:spcPts val="1782"/>
                </a:lnSpc>
              </a:pPr>
            </a:p>
          </p:txBody>
        </p:sp>
      </p:grpSp>
      <p:sp>
        <p:nvSpPr>
          <p:cNvPr name="Freeform 6" id="6"/>
          <p:cNvSpPr/>
          <p:nvPr/>
        </p:nvSpPr>
        <p:spPr>
          <a:xfrm flipH="false" flipV="false" rot="0">
            <a:off x="5039364" y="1664585"/>
            <a:ext cx="7359879" cy="7359879"/>
          </a:xfrm>
          <a:custGeom>
            <a:avLst/>
            <a:gdLst/>
            <a:ahLst/>
            <a:cxnLst/>
            <a:rect r="r" b="b" t="t" l="l"/>
            <a:pathLst>
              <a:path h="7359879" w="7359879">
                <a:moveTo>
                  <a:pt x="0" y="0"/>
                </a:moveTo>
                <a:lnTo>
                  <a:pt x="7359879" y="0"/>
                </a:lnTo>
                <a:lnTo>
                  <a:pt x="7359879" y="7359880"/>
                </a:lnTo>
                <a:lnTo>
                  <a:pt x="0" y="7359880"/>
                </a:lnTo>
                <a:lnTo>
                  <a:pt x="0" y="0"/>
                </a:lnTo>
                <a:close/>
              </a:path>
            </a:pathLst>
          </a:custGeom>
          <a:blipFill>
            <a:blip r:embed="rId2"/>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9156" r="-1040" b="-19156"/>
            </a:stretch>
          </a:blipFill>
        </p:spPr>
      </p:sp>
    </p:spTree>
  </p:cSld>
  <p:clrMapOvr>
    <a:masterClrMapping/>
  </p:clrMapOvr>
  <p:transition spd="slow">
    <p:fade/>
  </p:transition>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9156" r="-1040" b="-19156"/>
            </a:stretch>
          </a:blipFill>
        </p:spPr>
      </p:sp>
      <p:sp>
        <p:nvSpPr>
          <p:cNvPr name="Freeform 3" id="3"/>
          <p:cNvSpPr/>
          <p:nvPr/>
        </p:nvSpPr>
        <p:spPr>
          <a:xfrm flipH="false" flipV="false" rot="0">
            <a:off x="17839507" y="8800988"/>
            <a:ext cx="3696837" cy="1486012"/>
          </a:xfrm>
          <a:custGeom>
            <a:avLst/>
            <a:gdLst/>
            <a:ahLst/>
            <a:cxnLst/>
            <a:rect r="r" b="b" t="t" l="l"/>
            <a:pathLst>
              <a:path h="1486012" w="3696837">
                <a:moveTo>
                  <a:pt x="0" y="0"/>
                </a:moveTo>
                <a:lnTo>
                  <a:pt x="3696837" y="0"/>
                </a:lnTo>
                <a:lnTo>
                  <a:pt x="3696837" y="1486012"/>
                </a:lnTo>
                <a:lnTo>
                  <a:pt x="0" y="1486012"/>
                </a:lnTo>
                <a:lnTo>
                  <a:pt x="0" y="0"/>
                </a:lnTo>
                <a:close/>
              </a:path>
            </a:pathLst>
          </a:custGeom>
          <a:blipFill>
            <a:blip r:embed="rId3"/>
            <a:stretch>
              <a:fillRect l="0" t="-77691" r="-5956" b="-85903"/>
            </a:stretch>
          </a:blipFill>
        </p:spPr>
      </p:sp>
      <p:sp>
        <p:nvSpPr>
          <p:cNvPr name="Freeform 4" id="4"/>
          <p:cNvSpPr/>
          <p:nvPr/>
        </p:nvSpPr>
        <p:spPr>
          <a:xfrm flipH="false" flipV="false" rot="0">
            <a:off x="83735" y="22012"/>
            <a:ext cx="18204265" cy="10285410"/>
          </a:xfrm>
          <a:custGeom>
            <a:avLst/>
            <a:gdLst/>
            <a:ahLst/>
            <a:cxnLst/>
            <a:rect r="r" b="b" t="t" l="l"/>
            <a:pathLst>
              <a:path h="10285410" w="18204265">
                <a:moveTo>
                  <a:pt x="0" y="0"/>
                </a:moveTo>
                <a:lnTo>
                  <a:pt x="18204265" y="0"/>
                </a:lnTo>
                <a:lnTo>
                  <a:pt x="18204265" y="10285410"/>
                </a:lnTo>
                <a:lnTo>
                  <a:pt x="0" y="10285410"/>
                </a:lnTo>
                <a:lnTo>
                  <a:pt x="0" y="0"/>
                </a:lnTo>
                <a:close/>
              </a:path>
            </a:pathLst>
          </a:custGeom>
          <a:blipFill>
            <a:blip r:embed="rId4">
              <a:alphaModFix amt="20999"/>
            </a:blip>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DAHYjL6Sna4</dc:identifier>
  <dcterms:modified xsi:type="dcterms:W3CDTF">2011-08-01T06:04:30Z</dcterms:modified>
  <cp:revision>1</cp:revision>
  <dc:title>Numerical methods</dc:title>
</cp:coreProperties>
</file>